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committee members. Today I am presenting Phase 1 of my MSc research: the architectural design, formal baseline, and empirical evaluation of a multi-agent deep research system. This presentation outlines the first principles behind our architecture, the foundational literature guiding our design, the technical trade-offs made, and the engineering challenges overcome.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establishes why a naive single-prompt approach fails for rigorous academic research. An LLM is mathematically a conditional probability estimator with frozen parameters. Asking an LLM to generate a complex research monograph in one pass causes attention dilution, 'Lost-in-the-Middle' token neglect, and compounded failure probabilities across multi-step retrieval.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3, we ground our architecture in foundational computer science literature. We draw upon Vaswani and Liu to justify bounded context windows; Lewis et al. for non-parametric memory injection; Erman et al. for the Blackboard state machine pattern; Amdahl for concurrent retrieval speedup; and G-Eval for our automated evaluation harness.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addresses a crucial methodological decision: why this baseline strictly excludes a critic or revision loop. To scientifically evaluate an iterative multi-agent system, one must first establish an uncontaminated feed-forward baseline. Introducing a feedback loop immediately would obscure whether performance gains stemmed from initial retrieval or iterative editing. Phase 1 benchmarks the lower-bound DAG.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illustrates our system topology implemented in LangGraph. Unlike conversational frameworks, LangGraph implements a formal state machine. The shared state acts as a blackboard. As nodes execute, they emit functional deltas that are merged via a custom reducer function, guaranteeing thread safety during concurrent fan-out.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focuses on Layer 1: The Planner. The planner transforms an unstructured topic into a typed list of orthogonal sub-questions. We enforce strict JSON output and implement a two-stage error recovery mechanism: regex sanitization followed by a one-shot self-repair prompt if parsing fails, ensuring the graph never crashes on syntax drift.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covers our retrieval layer. In academic deep research, provenance is everything. Researchers do not just summarize search pages; they extract factual bullets with explicit source URL tags. Furthermore, we engineered dual resilience: exponential backoff retries and graceful fallback handling to ensure the system is completely robust against network throttling.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details our concurrency model. By applying Amdahl's Law, we parallelize the most latency-intensive phase of research. Using LangGraph's dynamic Send primitive, we map sub-questions across concurrent worker threads, reducing retrieval time from 20 seconds to 5 seconds while keeping context windows strictly isolated.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covers Layer 3: The Synthesizer. Raw parallel notes suffer from redundancy and conflicting metrics. Applying Shannon's information entropy principles, the Synthesizer deduplicates redundant points and—crucially—detects cross-source contradictions. Instead of arbitrarily picking a single number, it flags divergences for balanced reporting.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Layer 4: The Writer. In academic literature, claims without citations carry zero weight. We prevent hallucinated citations by supplying the writer with a pre-indexed catalog of verified URLs and strictly mandating numbered bracket citations that resolve to the reference list. Every empirical claim is audit-traceable.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addresses observability. To make our research pipeline audit-ready, we implemented a TeeStream logger that records every intermediate banner into an immutable text log. Furthermore, our Streamlit application uses event-based streaming to visualize each agent layer live as it finishes, with real-time latency and token metrics.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summarizes the key technical challenges encountered and resolved during system construction: handling concurrent state collisions via functional reducers, recovering from malformed JSON via one-shot AST repair, mitigating search rate limits with exponential backoffs, and preventing credential leaks on GitHub.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presents our architectural trade-off analysis. Every software engineering decision is a compromise. We chose a feed-forward DAG over a cyclic critic to maintain baseline purity; a blackboard pattern over chat to guarantee typed safety; dynamic fan-out to allow adaptive query scaling; and direct web search for open-domain 2026 recency.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presents our quantitative evaluation harness based on G-Eval. Using an independent LLM referee, we evaluate generated monographs across Relevance, Completeness, Organization, and Grounding. In our empirical testing across our benchmark suite, the baseline achieved consistent 5.0 ratings with zero citation hallucinations and latencies under 9 seconds.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Phase 1 establishes an end-to-end, observable, and grounded multi-agent research baseline. We have validated its latency, token consumption, and citation accuracy. With this benchmark firmly established, Phase 2 will introduce an adversarial critic and revision loop, allowing us to quantify the exact marginal value of cyclic reflection.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5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200400"/>
          </a:xfrm>
          <a:prstGeom prst="rect">
            <a:avLst/>
          </a:prstGeom>
          <a:noFill/>
        </p:spPr>
        <p:txBody>
          <a:bodyPr wrap="square">
            <a:spAutoFit/>
          </a:bodyPr>
          <a:lstStyle/>
          <a:p>
            <a:pPr>
              <a:spcAft>
                <a:spcPts val="1400"/>
              </a:spcAft>
              <a:defRPr sz="1300" b="1">
                <a:solidFill>
                  <a:srgbClr val="93C5FD"/>
                </a:solidFill>
              </a:defRPr>
            </a:pPr>
            <a:r>
              <a:t>MSc RESEARCH EXAMINATION · PHASE 1 BASELINE</a:t>
            </a:r>
          </a:p>
          <a:p>
            <a:pPr>
              <a:spcAft>
                <a:spcPts val="1800"/>
              </a:spcAft>
              <a:defRPr sz="3200" b="1">
                <a:solidFill>
                  <a:srgbClr val="FFFFFF"/>
                </a:solidFill>
              </a:defRPr>
            </a:pPr>
            <a:r>
              <a:t>Architectural Design and Empirical Baseline for</a:t>
            </a:r>
            <a:br/>
            <a:r>
              <a:t>Multi-Agent Deep Research Systems</a:t>
            </a:r>
          </a:p>
          <a:p>
            <a:pPr>
              <a:spcAft>
                <a:spcPts val="3600"/>
              </a:spcAft>
              <a:defRPr sz="1600">
                <a:solidFill>
                  <a:srgbClr val="E2E8F0"/>
                </a:solidFill>
              </a:defRPr>
            </a:pPr>
            <a:r>
              <a:t>Decomposition, Parallel Retrieval, and Epistemic Grounding via Directed State Graphs</a:t>
            </a:r>
          </a:p>
          <a:p>
            <a:pPr>
              <a:defRPr sz="1300">
                <a:solidFill>
                  <a:srgbClr val="94A3B8"/>
                </a:solidFill>
              </a:defRPr>
            </a:pPr>
            <a:r>
              <a:t>Candidate: Akshat Kumar  |  Degree: Master of Science  |  Academic Year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1E40AF"/>
                </a:solidFill>
              </a:defRPr>
            </a:pPr>
            <a:r>
              <a:t>MSC RESEARCH REVIEW · PHASE 1 BASELINE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02542"/>
                </a:solidFill>
              </a:defRPr>
            </a:pPr>
            <a:r>
              <a:t>The Problem Statement: Failure Modes of Monolithic Prompting</a:t>
            </a:r>
          </a:p>
        </p:txBody>
      </p:sp>
      <p:sp>
        <p:nvSpPr>
          <p:cNvPr id="4" name="Rounded Rectangle 3"/>
          <p:cNvSpPr/>
          <p:nvPr/>
        </p:nvSpPr>
        <p:spPr>
          <a:xfrm>
            <a:off x="731520" y="1463040"/>
            <a:ext cx="33832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17520" cy="4480560"/>
          </a:xfrm>
          <a:prstGeom prst="rect">
            <a:avLst/>
          </a:prstGeom>
          <a:noFill/>
        </p:spPr>
        <p:txBody>
          <a:bodyPr wrap="square">
            <a:spAutoFit/>
          </a:bodyPr>
          <a:lstStyle/>
          <a:p>
            <a:pPr>
              <a:spcAft>
                <a:spcPts val="800"/>
              </a:spcAft>
              <a:defRPr sz="1400" b="1">
                <a:solidFill>
                  <a:srgbClr val="102542"/>
                </a:solidFill>
              </a:defRPr>
            </a:pPr>
            <a:r>
              <a:t>1. Parametric Stagnation</a:t>
            </a:r>
          </a:p>
          <a:p>
            <a:pPr>
              <a:spcAft>
                <a:spcPts val="600"/>
              </a:spcAft>
              <a:defRPr sz="1100">
                <a:solidFill>
                  <a:srgbClr val="374151"/>
                </a:solidFill>
              </a:defRPr>
            </a:pPr>
            <a:r>
              <a:t>• Autoregressive LLMs are static probability density estimators P(w_{t+1} | w_{1:t}; θ).</a:t>
            </a:r>
          </a:p>
          <a:p>
            <a:pPr>
              <a:spcAft>
                <a:spcPts val="600"/>
              </a:spcAft>
              <a:defRPr sz="1100">
                <a:solidFill>
                  <a:srgbClr val="374151"/>
                </a:solidFill>
              </a:defRPr>
            </a:pPr>
            <a:r>
              <a:t>• Model weights θ are frozen at pre-training cutoff τ_cutoff.</a:t>
            </a:r>
          </a:p>
          <a:p>
            <a:pPr>
              <a:spcAft>
                <a:spcPts val="600"/>
              </a:spcAft>
              <a:defRPr sz="1100">
                <a:solidFill>
                  <a:srgbClr val="374151"/>
                </a:solidFill>
              </a:defRPr>
            </a:pPr>
            <a:r>
              <a:t>• Modern technical inquiries (e.g., 2026 battery chemistries, regulatory revisions) cannot be resolved via parametric recall.</a:t>
            </a:r>
          </a:p>
          <a:p>
            <a:pPr>
              <a:spcAft>
                <a:spcPts val="600"/>
              </a:spcAft>
              <a:defRPr sz="1100">
                <a:solidFill>
                  <a:srgbClr val="374151"/>
                </a:solidFill>
              </a:defRPr>
            </a:pPr>
            <a:r>
              <a:t>• Result: Severe hallucination when forced to extrapolate beyond the training manifold.</a:t>
            </a:r>
          </a:p>
        </p:txBody>
      </p:sp>
      <p:sp>
        <p:nvSpPr>
          <p:cNvPr id="6" name="Rounded Rectangle 5"/>
          <p:cNvSpPr/>
          <p:nvPr/>
        </p:nvSpPr>
        <p:spPr>
          <a:xfrm>
            <a:off x="4389120" y="1463040"/>
            <a:ext cx="33832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00200"/>
            <a:ext cx="3017520" cy="4480560"/>
          </a:xfrm>
          <a:prstGeom prst="rect">
            <a:avLst/>
          </a:prstGeom>
          <a:noFill/>
        </p:spPr>
        <p:txBody>
          <a:bodyPr wrap="square">
            <a:spAutoFit/>
          </a:bodyPr>
          <a:lstStyle/>
          <a:p>
            <a:pPr>
              <a:spcAft>
                <a:spcPts val="800"/>
              </a:spcAft>
              <a:defRPr sz="1400" b="1">
                <a:solidFill>
                  <a:srgbClr val="102542"/>
                </a:solidFill>
              </a:defRPr>
            </a:pPr>
            <a:r>
              <a:t>2. Context Window Dilution</a:t>
            </a:r>
          </a:p>
          <a:p>
            <a:pPr>
              <a:spcAft>
                <a:spcPts val="600"/>
              </a:spcAft>
              <a:defRPr sz="1100">
                <a:solidFill>
                  <a:srgbClr val="374151"/>
                </a:solidFill>
              </a:defRPr>
            </a:pPr>
            <a:r>
              <a:t>• Scaled dot-product attention scales as O(N^2) pairwise token comparisons.</a:t>
            </a:r>
          </a:p>
          <a:p>
            <a:pPr>
              <a:spcAft>
                <a:spcPts val="600"/>
              </a:spcAft>
              <a:defRPr sz="1100">
                <a:solidFill>
                  <a:srgbClr val="374151"/>
                </a:solidFill>
              </a:defRPr>
            </a:pPr>
            <a:r>
              <a:t>• Large context windows suffer from attention dispersion (softmax denominator growth).</a:t>
            </a:r>
          </a:p>
          <a:p>
            <a:pPr>
              <a:spcAft>
                <a:spcPts val="600"/>
              </a:spcAft>
              <a:defRPr sz="1100">
                <a:solidFill>
                  <a:srgbClr val="374151"/>
                </a:solidFill>
              </a:defRPr>
            </a:pPr>
            <a:r>
              <a:t>• Liu et al. (2023) demonstrated the 'Lost-in-the-Middle' effect: critical interior facts are neglected.</a:t>
            </a:r>
          </a:p>
          <a:p>
            <a:pPr>
              <a:spcAft>
                <a:spcPts val="600"/>
              </a:spcAft>
              <a:defRPr sz="1100">
                <a:solidFill>
                  <a:srgbClr val="374151"/>
                </a:solidFill>
              </a:defRPr>
            </a:pPr>
            <a:r>
              <a:t>• Multi-topic prompts cause cross-contamination: technical metrics bleed across orthogonal sub-domains.</a:t>
            </a:r>
          </a:p>
        </p:txBody>
      </p:sp>
      <p:sp>
        <p:nvSpPr>
          <p:cNvPr id="8" name="Rounded Rectangle 7"/>
          <p:cNvSpPr/>
          <p:nvPr/>
        </p:nvSpPr>
        <p:spPr>
          <a:xfrm>
            <a:off x="8046720" y="1463040"/>
            <a:ext cx="33832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00200"/>
            <a:ext cx="3017520" cy="4480560"/>
          </a:xfrm>
          <a:prstGeom prst="rect">
            <a:avLst/>
          </a:prstGeom>
          <a:noFill/>
        </p:spPr>
        <p:txBody>
          <a:bodyPr wrap="square">
            <a:spAutoFit/>
          </a:bodyPr>
          <a:lstStyle/>
          <a:p>
            <a:pPr>
              <a:spcAft>
                <a:spcPts val="800"/>
              </a:spcAft>
              <a:defRPr sz="1400" b="1">
                <a:solidFill>
                  <a:srgbClr val="102542"/>
                </a:solidFill>
              </a:defRPr>
            </a:pPr>
            <a:r>
              <a:t>3. Monolithic Brittle Failure</a:t>
            </a:r>
          </a:p>
          <a:p>
            <a:pPr>
              <a:spcAft>
                <a:spcPts val="600"/>
              </a:spcAft>
              <a:defRPr sz="1100">
                <a:solidFill>
                  <a:srgbClr val="374151"/>
                </a:solidFill>
              </a:defRPr>
            </a:pPr>
            <a:r>
              <a:t>• Multi-step deep research requires K independent search and reasoning tasks.</a:t>
            </a:r>
          </a:p>
          <a:p>
            <a:pPr>
              <a:spcAft>
                <a:spcPts val="600"/>
              </a:spcAft>
              <a:defRPr sz="1100">
                <a:solidFill>
                  <a:srgbClr val="374151"/>
                </a:solidFill>
              </a:defRPr>
            </a:pPr>
            <a:r>
              <a:t>• In a single prompt, the end-to-end success probability is P(Success) = p^K.</a:t>
            </a:r>
          </a:p>
          <a:p>
            <a:pPr>
              <a:spcAft>
                <a:spcPts val="600"/>
              </a:spcAft>
              <a:defRPr sz="1100">
                <a:solidFill>
                  <a:srgbClr val="374151"/>
                </a:solidFill>
              </a:defRPr>
            </a:pPr>
            <a:r>
              <a:t>• For K = 5 sub-tasks with p = 0.85, overall success is only 44.3%.</a:t>
            </a:r>
          </a:p>
          <a:p>
            <a:pPr>
              <a:spcAft>
                <a:spcPts val="600"/>
              </a:spcAft>
              <a:defRPr sz="1100">
                <a:solidFill>
                  <a:srgbClr val="374151"/>
                </a:solidFill>
              </a:defRPr>
            </a:pPr>
            <a:r>
              <a:t>• Monolithic execution lacks modular error-isolation, intermediate inspection, and verifiable provenance.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1E40AF"/>
                </a:solidFill>
              </a:defRPr>
            </a:pPr>
            <a:r>
              <a:t>MSC RESEARCH REVIEW · PHASE 1 BASELINE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02542"/>
                </a:solidFill>
              </a:defRPr>
            </a:pPr>
            <a:r>
              <a:t>Theoretical Foundations &amp; Referenced Scientific Literature</a:t>
            </a:r>
          </a:p>
        </p:txBody>
      </p:sp>
      <p:sp>
        <p:nvSpPr>
          <p:cNvPr id="4" name="Rounded Rectangle 3"/>
          <p:cNvSpPr/>
          <p:nvPr/>
        </p:nvSpPr>
        <p:spPr>
          <a:xfrm>
            <a:off x="731520" y="1463040"/>
            <a:ext cx="5212080" cy="2286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2011680"/>
          </a:xfrm>
          <a:prstGeom prst="rect">
            <a:avLst/>
          </a:prstGeom>
          <a:noFill/>
        </p:spPr>
        <p:txBody>
          <a:bodyPr wrap="square">
            <a:spAutoFit/>
          </a:bodyPr>
          <a:lstStyle/>
          <a:p>
            <a:pPr>
              <a:spcAft>
                <a:spcPts val="800"/>
              </a:spcAft>
              <a:defRPr sz="1400" b="1">
                <a:solidFill>
                  <a:srgbClr val="102542"/>
                </a:solidFill>
              </a:defRPr>
            </a:pPr>
            <a:r>
              <a:t>Vaswani et al. (2017) &amp; Liu et al. (2023)</a:t>
            </a:r>
          </a:p>
          <a:p>
            <a:pPr>
              <a:spcAft>
                <a:spcPts val="600"/>
              </a:spcAft>
              <a:defRPr sz="1100">
                <a:solidFill>
                  <a:srgbClr val="374151"/>
                </a:solidFill>
              </a:defRPr>
            </a:pPr>
            <a:r>
              <a:t>• Attention Is All You Need (Vaswani et al.): Establishes O(N^2) dot-product attention mechanics.</a:t>
            </a:r>
          </a:p>
          <a:p>
            <a:pPr>
              <a:spcAft>
                <a:spcPts val="600"/>
              </a:spcAft>
              <a:defRPr sz="1100">
                <a:solidFill>
                  <a:srgbClr val="374151"/>
                </a:solidFill>
              </a:defRPr>
            </a:pPr>
            <a:r>
              <a:t>• Lost in the Middle (Liu et al.): Proves empirical degradation in retrieval accuracy as input token context expands, motivating bounded context windows per researcher.</a:t>
            </a:r>
          </a:p>
        </p:txBody>
      </p:sp>
      <p:sp>
        <p:nvSpPr>
          <p:cNvPr id="6" name="Rounded Rectangle 5"/>
          <p:cNvSpPr/>
          <p:nvPr/>
        </p:nvSpPr>
        <p:spPr>
          <a:xfrm>
            <a:off x="6217920" y="1463040"/>
            <a:ext cx="5212080" cy="2286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46320" cy="2011680"/>
          </a:xfrm>
          <a:prstGeom prst="rect">
            <a:avLst/>
          </a:prstGeom>
          <a:noFill/>
        </p:spPr>
        <p:txBody>
          <a:bodyPr wrap="square">
            <a:spAutoFit/>
          </a:bodyPr>
          <a:lstStyle/>
          <a:p>
            <a:pPr>
              <a:spcAft>
                <a:spcPts val="800"/>
              </a:spcAft>
              <a:defRPr sz="1400" b="1">
                <a:solidFill>
                  <a:srgbClr val="102542"/>
                </a:solidFill>
              </a:defRPr>
            </a:pPr>
            <a:r>
              <a:t>Lewis et al. (2020) — Retrieval-Augmented Generation</a:t>
            </a:r>
          </a:p>
          <a:p>
            <a:pPr>
              <a:spcAft>
                <a:spcPts val="600"/>
              </a:spcAft>
              <a:defRPr sz="1100">
                <a:solidFill>
                  <a:srgbClr val="374151"/>
                </a:solidFill>
              </a:defRPr>
            </a:pPr>
            <a:r>
              <a:t>• Distinguishes parametric memory θ from non-parametric memory D = {d_1, ..., d_k}.</a:t>
            </a:r>
          </a:p>
          <a:p>
            <a:pPr>
              <a:spcAft>
                <a:spcPts val="600"/>
              </a:spcAft>
              <a:defRPr sz="1100">
                <a:solidFill>
                  <a:srgbClr val="374151"/>
                </a:solidFill>
              </a:defRPr>
            </a:pPr>
            <a:r>
              <a:t>• Proves conditional shift to P(y | x, D; θ) minimizes factual drift and enforces evidence grounding against external documents.</a:t>
            </a:r>
          </a:p>
        </p:txBody>
      </p:sp>
      <p:sp>
        <p:nvSpPr>
          <p:cNvPr id="8" name="Rounded Rectangle 7"/>
          <p:cNvSpPr/>
          <p:nvPr/>
        </p:nvSpPr>
        <p:spPr>
          <a:xfrm>
            <a:off x="731520" y="3931920"/>
            <a:ext cx="5212080" cy="2286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4846320" cy="2011680"/>
          </a:xfrm>
          <a:prstGeom prst="rect">
            <a:avLst/>
          </a:prstGeom>
          <a:noFill/>
        </p:spPr>
        <p:txBody>
          <a:bodyPr wrap="square">
            <a:spAutoFit/>
          </a:bodyPr>
          <a:lstStyle/>
          <a:p>
            <a:pPr>
              <a:spcAft>
                <a:spcPts val="800"/>
              </a:spcAft>
              <a:defRPr sz="1400" b="1">
                <a:solidFill>
                  <a:srgbClr val="102542"/>
                </a:solidFill>
              </a:defRPr>
            </a:pPr>
            <a:r>
              <a:t>Erman et al. (1980) — The Blackboard Architecture</a:t>
            </a:r>
          </a:p>
          <a:p>
            <a:pPr>
              <a:spcAft>
                <a:spcPts val="600"/>
              </a:spcAft>
              <a:defRPr sz="1100">
                <a:solidFill>
                  <a:srgbClr val="374151"/>
                </a:solidFill>
              </a:defRPr>
            </a:pPr>
            <a:r>
              <a:t>• Hearsay-II speech understanding system formulation.</a:t>
            </a:r>
          </a:p>
          <a:p>
            <a:pPr>
              <a:spcAft>
                <a:spcPts val="600"/>
              </a:spcAft>
              <a:defRPr sz="1100">
                <a:solidFill>
                  <a:srgbClr val="374151"/>
                </a:solidFill>
              </a:defRPr>
            </a:pPr>
            <a:r>
              <a:t>• Replaces O(N^2) point-to-point agent conversational mesh with centralized shared state.</a:t>
            </a:r>
          </a:p>
          <a:p>
            <a:pPr>
              <a:spcAft>
                <a:spcPts val="600"/>
              </a:spcAft>
              <a:defRPr sz="1100">
                <a:solidFill>
                  <a:srgbClr val="374151"/>
                </a:solidFill>
              </a:defRPr>
            </a:pPr>
            <a:r>
              <a:t>• Specialized knowledge sources read inputs and emit differential state patches ΔS.</a:t>
            </a:r>
          </a:p>
        </p:txBody>
      </p:sp>
      <p:sp>
        <p:nvSpPr>
          <p:cNvPr id="10" name="Rounded Rectangle 9"/>
          <p:cNvSpPr/>
          <p:nvPr/>
        </p:nvSpPr>
        <p:spPr>
          <a:xfrm>
            <a:off x="6217920" y="3931920"/>
            <a:ext cx="5212080" cy="2286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069080"/>
            <a:ext cx="4846320" cy="2011680"/>
          </a:xfrm>
          <a:prstGeom prst="rect">
            <a:avLst/>
          </a:prstGeom>
          <a:noFill/>
        </p:spPr>
        <p:txBody>
          <a:bodyPr wrap="square">
            <a:spAutoFit/>
          </a:bodyPr>
          <a:lstStyle/>
          <a:p>
            <a:pPr>
              <a:spcAft>
                <a:spcPts val="800"/>
              </a:spcAft>
              <a:defRPr sz="1400" b="1">
                <a:solidFill>
                  <a:srgbClr val="102542"/>
                </a:solidFill>
              </a:defRPr>
            </a:pPr>
            <a:r>
              <a:t>Amdahl (1967) &amp; Liu et al. (2023, G-Eval)</a:t>
            </a:r>
          </a:p>
          <a:p>
            <a:pPr>
              <a:spcAft>
                <a:spcPts val="600"/>
              </a:spcAft>
              <a:defRPr sz="1100">
                <a:solidFill>
                  <a:srgbClr val="374151"/>
                </a:solidFill>
              </a:defRPr>
            </a:pPr>
            <a:r>
              <a:t>• Amdahl's Law: Proves parallel speedup for independent retrieval sub-tasks.</a:t>
            </a:r>
          </a:p>
          <a:p>
            <a:pPr>
              <a:spcAft>
                <a:spcPts val="600"/>
              </a:spcAft>
              <a:defRPr sz="1100">
                <a:solidFill>
                  <a:srgbClr val="374151"/>
                </a:solidFill>
              </a:defRPr>
            </a:pPr>
            <a:r>
              <a:t>• G-Eval (Liu et al., 2023): Framework for multi-dimensional LLM-as-a-Judge rubric scoring (Relevance, Completeness, Organization, Grounding).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1E40AF"/>
                </a:solidFill>
              </a:defRPr>
            </a:pPr>
            <a:r>
              <a:t>MSC RESEARCH REVIEW · PHASE 1 BASELINE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02542"/>
                </a:solidFill>
              </a:defRPr>
            </a:pPr>
            <a:r>
              <a:t>Baseline Methodology: The Strict Feed-Forward Scope</a:t>
            </a:r>
          </a:p>
        </p:txBody>
      </p:sp>
      <p:sp>
        <p:nvSpPr>
          <p:cNvPr id="4" name="Rounded Rectangle 3"/>
          <p:cNvSpPr/>
          <p:nvPr/>
        </p:nvSpPr>
        <p:spPr>
          <a:xfrm>
            <a:off x="7315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480560"/>
          </a:xfrm>
          <a:prstGeom prst="rect">
            <a:avLst/>
          </a:prstGeom>
          <a:noFill/>
        </p:spPr>
        <p:txBody>
          <a:bodyPr wrap="square">
            <a:spAutoFit/>
          </a:bodyPr>
          <a:lstStyle/>
          <a:p>
            <a:pPr>
              <a:spcAft>
                <a:spcPts val="800"/>
              </a:spcAft>
              <a:defRPr sz="1400" b="1">
                <a:solidFill>
                  <a:srgbClr val="102542"/>
                </a:solidFill>
              </a:defRPr>
            </a:pPr>
            <a:r>
              <a:t>Why Phase 1 Deliberately Excludes Critic Loops</a:t>
            </a:r>
          </a:p>
          <a:p>
            <a:pPr>
              <a:spcAft>
                <a:spcPts val="600"/>
              </a:spcAft>
              <a:defRPr sz="1100">
                <a:solidFill>
                  <a:srgbClr val="374151"/>
                </a:solidFill>
              </a:defRPr>
            </a:pPr>
            <a:r>
              <a:t>• Methodological Isolation: In experimental systems, establishing a baseline requires measuring pure feed-forward performance before adding cyclic feedback.</a:t>
            </a:r>
          </a:p>
          <a:p>
            <a:pPr>
              <a:spcAft>
                <a:spcPts val="600"/>
              </a:spcAft>
              <a:defRPr sz="1100">
                <a:solidFill>
                  <a:srgbClr val="374151"/>
                </a:solidFill>
              </a:defRPr>
            </a:pPr>
            <a:r>
              <a:t>• Non-Monotonic Convergence: Iterative critic/revision loops introduce variable latency, non-deterministic stopping criteria, and potential drift.</a:t>
            </a:r>
          </a:p>
          <a:p>
            <a:pPr>
              <a:spcAft>
                <a:spcPts val="600"/>
              </a:spcAft>
              <a:defRPr sz="1100">
                <a:solidFill>
                  <a:srgbClr val="374151"/>
                </a:solidFill>
              </a:defRPr>
            </a:pPr>
            <a:r>
              <a:t>• Establishing the Lower Bound: Phase 1 isolates lower-bound retrieval precision, token consumption, and wall-clock latency.</a:t>
            </a:r>
          </a:p>
          <a:p>
            <a:pPr>
              <a:spcAft>
                <a:spcPts val="600"/>
              </a:spcAft>
              <a:defRPr sz="1100">
                <a:solidFill>
                  <a:srgbClr val="374151"/>
                </a:solidFill>
              </a:defRPr>
            </a:pPr>
            <a:r>
              <a:t>• Phase 2 Comparative Hypothesis: Phase 2 will introduce an adversarial critic node to measure the exact marginal gains in factual accuracy against this Phase 1 baseline.</a:t>
            </a:r>
          </a:p>
          <a:p>
            <a:pPr>
              <a:spcAft>
                <a:spcPts val="600"/>
              </a:spcAft>
              <a:defRPr sz="1100">
                <a:solidFill>
                  <a:srgbClr val="374151"/>
                </a:solidFill>
              </a:defRPr>
            </a:pPr>
            <a:r>
              <a:t>• Scope Discipline: Examiners should note that the absence of a critic loop is an intentional methodological requirement, not an oversight.</a:t>
            </a:r>
          </a:p>
        </p:txBody>
      </p:sp>
      <p:sp>
        <p:nvSpPr>
          <p:cNvPr id="6" name="Rounded Rectangle 5"/>
          <p:cNvSpPr/>
          <p:nvPr/>
        </p:nvSpPr>
        <p:spPr>
          <a:xfrm>
            <a:off x="62179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46320" cy="4480560"/>
          </a:xfrm>
          <a:prstGeom prst="rect">
            <a:avLst/>
          </a:prstGeom>
          <a:noFill/>
        </p:spPr>
        <p:txBody>
          <a:bodyPr wrap="square">
            <a:spAutoFit/>
          </a:bodyPr>
          <a:lstStyle/>
          <a:p>
            <a:pPr>
              <a:spcAft>
                <a:spcPts val="800"/>
              </a:spcAft>
              <a:defRPr sz="1400" b="1">
                <a:solidFill>
                  <a:srgbClr val="102542"/>
                </a:solidFill>
              </a:defRPr>
            </a:pPr>
            <a:r>
              <a:t>Phase 1 vs. Phase 2 Architectural Comparison</a:t>
            </a:r>
          </a:p>
          <a:p>
            <a:pPr>
              <a:spcAft>
                <a:spcPts val="600"/>
              </a:spcAft>
              <a:defRPr sz="1100">
                <a:solidFill>
                  <a:srgbClr val="374151"/>
                </a:solidFill>
              </a:defRPr>
            </a:pPr>
            <a:r>
              <a:t>• Phase 1 (Current Baseline):</a:t>
            </a:r>
          </a:p>
          <a:p>
            <a:pPr>
              <a:spcAft>
                <a:spcPts val="600"/>
              </a:spcAft>
              <a:defRPr sz="1100">
                <a:solidFill>
                  <a:srgbClr val="374151"/>
                </a:solidFill>
              </a:defRPr>
            </a:pPr>
            <a:r>
              <a:t>  - Topology: Directed Acyclic Graph (DAG)</a:t>
            </a:r>
          </a:p>
          <a:p>
            <a:pPr>
              <a:spcAft>
                <a:spcPts val="600"/>
              </a:spcAft>
              <a:defRPr sz="1100">
                <a:solidFill>
                  <a:srgbClr val="374151"/>
                </a:solidFill>
              </a:defRPr>
            </a:pPr>
            <a:r>
              <a:t>  - Control Flow: Planner → Researchers → Synthesizer → Writer → END</a:t>
            </a:r>
          </a:p>
          <a:p>
            <a:pPr>
              <a:spcAft>
                <a:spcPts val="600"/>
              </a:spcAft>
              <a:defRPr sz="1100">
                <a:solidFill>
                  <a:srgbClr val="374151"/>
                </a:solidFill>
              </a:defRPr>
            </a:pPr>
            <a:r>
              <a:t>  - Execution: Single forward pass with deterministic stage barriers</a:t>
            </a:r>
          </a:p>
          <a:p>
            <a:pPr>
              <a:spcAft>
                <a:spcPts val="600"/>
              </a:spcAft>
              <a:defRPr sz="1100">
                <a:solidFill>
                  <a:srgbClr val="374151"/>
                </a:solidFill>
              </a:defRPr>
            </a:pPr>
            <a:r>
              <a:t>  - Purpose: Measure raw latency, retrieval yield, and initial grounding</a:t>
            </a:r>
          </a:p>
          <a:p>
            <a:pPr>
              <a:spcAft>
                <a:spcPts val="600"/>
              </a:spcAft>
              <a:defRPr sz="1100">
                <a:solidFill>
                  <a:srgbClr val="374151"/>
                </a:solidFill>
              </a:defRPr>
            </a:pPr>
          </a:p>
          <a:p>
            <a:pPr>
              <a:spcAft>
                <a:spcPts val="600"/>
              </a:spcAft>
              <a:defRPr sz="1100">
                <a:solidFill>
                  <a:srgbClr val="374151"/>
                </a:solidFill>
              </a:defRPr>
            </a:pPr>
            <a:r>
              <a:t>• Phase 2 (Future Extension):</a:t>
            </a:r>
          </a:p>
          <a:p>
            <a:pPr>
              <a:spcAft>
                <a:spcPts val="600"/>
              </a:spcAft>
              <a:defRPr sz="1100">
                <a:solidFill>
                  <a:srgbClr val="374151"/>
                </a:solidFill>
              </a:defRPr>
            </a:pPr>
            <a:r>
              <a:t>  - Topology: Cyclic State Graph with conditional back-edges</a:t>
            </a:r>
          </a:p>
          <a:p>
            <a:pPr>
              <a:spcAft>
                <a:spcPts val="600"/>
              </a:spcAft>
              <a:defRPr sz="1100">
                <a:solidFill>
                  <a:srgbClr val="374151"/>
                </a:solidFill>
              </a:defRPr>
            </a:pPr>
            <a:r>
              <a:t>  - Control Flow: Writer → Critic → [Revision Loop if Score &lt; Threshold] → END</a:t>
            </a:r>
          </a:p>
          <a:p>
            <a:pPr>
              <a:spcAft>
                <a:spcPts val="600"/>
              </a:spcAft>
              <a:defRPr sz="1100">
                <a:solidFill>
                  <a:srgbClr val="374151"/>
                </a:solidFill>
              </a:defRPr>
            </a:pPr>
            <a:r>
              <a:t>  - Purpose: Quantify delta in citation accuracy and hallucination reduction relative to Phase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1E40AF"/>
                </a:solidFill>
              </a:defRPr>
            </a:pPr>
            <a:r>
              <a:t>MSC RESEARCH REVIEW · PHASE 1 BASELINE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02542"/>
                </a:solidFill>
              </a:defRPr>
            </a:pPr>
            <a:r>
              <a:t>System Topology: Directed State Graph &amp; Blackboard State</a:t>
            </a:r>
          </a:p>
        </p:txBody>
      </p:sp>
      <p:sp>
        <p:nvSpPr>
          <p:cNvPr id="4" name="Rounded Rectangle 3"/>
          <p:cNvSpPr/>
          <p:nvPr/>
        </p:nvSpPr>
        <p:spPr>
          <a:xfrm>
            <a:off x="731520" y="1463040"/>
            <a:ext cx="548640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5120640" cy="4480560"/>
          </a:xfrm>
          <a:prstGeom prst="rect">
            <a:avLst/>
          </a:prstGeom>
          <a:noFill/>
        </p:spPr>
        <p:txBody>
          <a:bodyPr wrap="square">
            <a:spAutoFit/>
          </a:bodyPr>
          <a:lstStyle/>
          <a:p>
            <a:pPr>
              <a:spcAft>
                <a:spcPts val="800"/>
              </a:spcAft>
              <a:defRPr sz="1400" b="1">
                <a:solidFill>
                  <a:srgbClr val="102542"/>
                </a:solidFill>
              </a:defRPr>
            </a:pPr>
            <a:r>
              <a:t>Formal Graph Specification G = (V, E, S, δ)</a:t>
            </a:r>
          </a:p>
          <a:p>
            <a:pPr>
              <a:spcAft>
                <a:spcPts val="600"/>
              </a:spcAft>
              <a:defRPr sz="1100">
                <a:solidFill>
                  <a:srgbClr val="374151"/>
                </a:solidFill>
              </a:defRPr>
            </a:pPr>
            <a:r>
              <a:t>• Vertices V: {planner, researcher, synthesizer, writer}</a:t>
            </a:r>
          </a:p>
          <a:p>
            <a:pPr>
              <a:spcAft>
                <a:spcPts val="600"/>
              </a:spcAft>
              <a:defRPr sz="1100">
                <a:solidFill>
                  <a:srgbClr val="374151"/>
                </a:solidFill>
              </a:defRPr>
            </a:pPr>
            <a:r>
              <a:t>• Edges E: START → planner → (Send) → researcher → synthesizer → writer → END</a:t>
            </a:r>
          </a:p>
          <a:p>
            <a:pPr>
              <a:spcAft>
                <a:spcPts val="600"/>
              </a:spcAft>
              <a:defRPr sz="1100">
                <a:solidFill>
                  <a:srgbClr val="374151"/>
                </a:solidFill>
              </a:defRPr>
            </a:pPr>
            <a:r>
              <a:t>• State S (TypedDict): Central blackboard containing:</a:t>
            </a:r>
          </a:p>
          <a:p>
            <a:pPr>
              <a:spcAft>
                <a:spcPts val="600"/>
              </a:spcAft>
              <a:defRPr sz="1100">
                <a:solidFill>
                  <a:srgbClr val="374151"/>
                </a:solidFill>
              </a:defRPr>
            </a:pPr>
            <a:r>
              <a:t>  - question: Original user research query</a:t>
            </a:r>
          </a:p>
          <a:p>
            <a:pPr>
              <a:spcAft>
                <a:spcPts val="600"/>
              </a:spcAft>
              <a:defRPr sz="1100">
                <a:solidFill>
                  <a:srgbClr val="374151"/>
                </a:solidFill>
              </a:defRPr>
            </a:pPr>
            <a:r>
              <a:t>  - plan: Decomposed sub-questions (List[str])</a:t>
            </a:r>
          </a:p>
          <a:p>
            <a:pPr>
              <a:spcAft>
                <a:spcPts val="600"/>
              </a:spcAft>
              <a:defRPr sz="1100">
                <a:solidFill>
                  <a:srgbClr val="374151"/>
                </a:solidFill>
              </a:defRPr>
            </a:pPr>
            <a:r>
              <a:t>  - search_results: Raw query hits ({sub_q: [{title, url, snippet}]})</a:t>
            </a:r>
          </a:p>
          <a:p>
            <a:pPr>
              <a:spcAft>
                <a:spcPts val="600"/>
              </a:spcAft>
              <a:defRPr sz="1100">
                <a:solidFill>
                  <a:srgbClr val="374151"/>
                </a:solidFill>
              </a:defRPr>
            </a:pPr>
            <a:r>
              <a:t>  - notes: Extracted bullet findings tagged with source URLs</a:t>
            </a:r>
          </a:p>
          <a:p>
            <a:pPr>
              <a:spcAft>
                <a:spcPts val="600"/>
              </a:spcAft>
              <a:defRPr sz="1100">
                <a:solidFill>
                  <a:srgbClr val="374151"/>
                </a:solidFill>
              </a:defRPr>
            </a:pPr>
            <a:r>
              <a:t>  - brief: Deduplicated synthesis and identified contradictions</a:t>
            </a:r>
          </a:p>
          <a:p>
            <a:pPr>
              <a:spcAft>
                <a:spcPts val="600"/>
              </a:spcAft>
              <a:defRPr sz="1100">
                <a:solidFill>
                  <a:srgbClr val="374151"/>
                </a:solidFill>
              </a:defRPr>
            </a:pPr>
            <a:r>
              <a:t>  - report: Formatted markdown paper with [1], [2] citations</a:t>
            </a:r>
          </a:p>
          <a:p>
            <a:pPr>
              <a:spcAft>
                <a:spcPts val="600"/>
              </a:spcAft>
              <a:defRPr sz="1100">
                <a:solidFill>
                  <a:srgbClr val="374151"/>
                </a:solidFill>
              </a:defRPr>
            </a:pPr>
            <a:r>
              <a:t>  - metadata: High-resolution node latency, tokens, search calls</a:t>
            </a:r>
          </a:p>
          <a:p>
            <a:pPr>
              <a:spcAft>
                <a:spcPts val="600"/>
              </a:spcAft>
              <a:defRPr sz="1100">
                <a:solidFill>
                  <a:srgbClr val="374151"/>
                </a:solidFill>
              </a:defRPr>
            </a:pPr>
            <a:r>
              <a:t>• Reducer Function merge_dicts: Resolves concurrent updates deterministically.</a:t>
            </a:r>
          </a:p>
        </p:txBody>
      </p:sp>
      <p:sp>
        <p:nvSpPr>
          <p:cNvPr id="6" name="Rounded Rectangle 5"/>
          <p:cNvSpPr/>
          <p:nvPr/>
        </p:nvSpPr>
        <p:spPr>
          <a:xfrm>
            <a:off x="6492240" y="1463040"/>
            <a:ext cx="493776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600200"/>
            <a:ext cx="4572000" cy="4480560"/>
          </a:xfrm>
          <a:prstGeom prst="rect">
            <a:avLst/>
          </a:prstGeom>
          <a:noFill/>
        </p:spPr>
        <p:txBody>
          <a:bodyPr wrap="square">
            <a:spAutoFit/>
          </a:bodyPr>
          <a:lstStyle/>
          <a:p>
            <a:pPr>
              <a:spcAft>
                <a:spcPts val="800"/>
              </a:spcAft>
              <a:defRPr sz="1400" b="1">
                <a:solidFill>
                  <a:srgbClr val="102542"/>
                </a:solidFill>
              </a:defRPr>
            </a:pPr>
            <a:r>
              <a:t>Pipeline Architecture Diagram</a:t>
            </a:r>
          </a:p>
          <a:p>
            <a:pPr>
              <a:spcAft>
                <a:spcPts val="600"/>
              </a:spcAft>
              <a:defRPr sz="1100">
                <a:solidFill>
                  <a:srgbClr val="374151"/>
                </a:solidFill>
              </a:defRPr>
            </a:pPr>
            <a:r>
              <a:t>                    [START]</a:t>
            </a:r>
          </a:p>
          <a:p>
            <a:pPr>
              <a:spcAft>
                <a:spcPts val="600"/>
              </a:spcAft>
              <a:defRPr sz="1100">
                <a:solidFill>
                  <a:srgbClr val="374151"/>
                </a:solidFill>
              </a:defRPr>
            </a:pPr>
            <a:r>
              <a:t>                       │</a:t>
            </a:r>
          </a:p>
          <a:p>
            <a:pPr>
              <a:spcAft>
                <a:spcPts val="600"/>
              </a:spcAft>
              <a:defRPr sz="1100">
                <a:solidFill>
                  <a:srgbClr val="374151"/>
                </a:solidFill>
              </a:defRPr>
            </a:pPr>
            <a:r>
              <a:t>                       ▼</a:t>
            </a:r>
          </a:p>
          <a:p>
            <a:pPr>
              <a:spcAft>
                <a:spcPts val="600"/>
              </a:spcAft>
              <a:defRPr sz="1100">
                <a:solidFill>
                  <a:srgbClr val="374151"/>
                </a:solidFill>
              </a:defRPr>
            </a:pPr>
            <a:r>
              <a:t>              ┌─────────────────┐</a:t>
            </a:r>
          </a:p>
          <a:p>
            <a:pPr>
              <a:spcAft>
                <a:spcPts val="600"/>
              </a:spcAft>
              <a:defRPr sz="1100">
                <a:solidFill>
                  <a:srgbClr val="374151"/>
                </a:solidFill>
              </a:defRPr>
            </a:pPr>
            <a:r>
              <a:t>              │     Planner     │</a:t>
            </a:r>
          </a:p>
          <a:p>
            <a:pPr>
              <a:spcAft>
                <a:spcPts val="600"/>
              </a:spcAft>
              <a:defRPr sz="1100">
                <a:solidFill>
                  <a:srgbClr val="374151"/>
                </a:solidFill>
              </a:defRPr>
            </a:pPr>
            <a:r>
              <a:t>              └────────┬────────┘</a:t>
            </a:r>
          </a:p>
          <a:p>
            <a:pPr>
              <a:spcAft>
                <a:spcPts val="600"/>
              </a:spcAft>
              <a:defRPr sz="1100">
                <a:solidFill>
                  <a:srgbClr val="374151"/>
                </a:solidFill>
              </a:defRPr>
            </a:pPr>
            <a:r>
              <a:t>                       │</a:t>
            </a:r>
          </a:p>
          <a:p>
            <a:pPr>
              <a:spcAft>
                <a:spcPts val="600"/>
              </a:spcAft>
              <a:defRPr sz="1100">
                <a:solidFill>
                  <a:srgbClr val="374151"/>
                </a:solidFill>
              </a:defRPr>
            </a:pPr>
            <a:r>
              <a:t>         ┌─────────────┼─────────────┐ (Send)</a:t>
            </a:r>
          </a:p>
          <a:p>
            <a:pPr>
              <a:spcAft>
                <a:spcPts val="600"/>
              </a:spcAft>
              <a:defRPr sz="1100">
                <a:solidFill>
                  <a:srgbClr val="374151"/>
                </a:solidFill>
              </a:defRPr>
            </a:pPr>
            <a:r>
              <a:t>         ▼             ▼             ▼</a:t>
            </a:r>
          </a:p>
          <a:p>
            <a:pPr>
              <a:spcAft>
                <a:spcPts val="600"/>
              </a:spcAft>
              <a:defRPr sz="1100">
                <a:solidFill>
                  <a:srgbClr val="374151"/>
                </a:solidFill>
              </a:defRPr>
            </a:pPr>
            <a:r>
              <a:t>   ┌───────────┐ ┌───────────┐ ┌───────────┐</a:t>
            </a:r>
          </a:p>
          <a:p>
            <a:pPr>
              <a:spcAft>
                <a:spcPts val="600"/>
              </a:spcAft>
              <a:defRPr sz="1100">
                <a:solidFill>
                  <a:srgbClr val="374151"/>
                </a:solidFill>
              </a:defRPr>
            </a:pPr>
            <a:r>
              <a:t>   │Researcher1│ │Researcher2│ │ResearcherN│</a:t>
            </a:r>
          </a:p>
          <a:p>
            <a:pPr>
              <a:spcAft>
                <a:spcPts val="600"/>
              </a:spcAft>
              <a:defRPr sz="1100">
                <a:solidFill>
                  <a:srgbClr val="374151"/>
                </a:solidFill>
              </a:defRPr>
            </a:pPr>
            <a:r>
              <a:t>   └─────┬─────┘ └─────┬─────┘ └─────┬─────┘</a:t>
            </a:r>
          </a:p>
          <a:p>
            <a:pPr>
              <a:spcAft>
                <a:spcPts val="600"/>
              </a:spcAft>
              <a:defRPr sz="1100">
                <a:solidFill>
                  <a:srgbClr val="374151"/>
                </a:solidFill>
              </a:defRPr>
            </a:pPr>
            <a:r>
              <a:t>         └─────────────┼─────────────┘ (merge_dicts)</a:t>
            </a:r>
          </a:p>
          <a:p>
            <a:pPr>
              <a:spcAft>
                <a:spcPts val="600"/>
              </a:spcAft>
              <a:defRPr sz="1100">
                <a:solidFill>
                  <a:srgbClr val="374151"/>
                </a:solidFill>
              </a:defRPr>
            </a:pPr>
            <a:r>
              <a:t>                       ▼</a:t>
            </a:r>
          </a:p>
          <a:p>
            <a:pPr>
              <a:spcAft>
                <a:spcPts val="600"/>
              </a:spcAft>
              <a:defRPr sz="1100">
                <a:solidFill>
                  <a:srgbClr val="374151"/>
                </a:solidFill>
              </a:defRPr>
            </a:pPr>
            <a:r>
              <a:t>              ┌─────────────────┐</a:t>
            </a:r>
          </a:p>
          <a:p>
            <a:pPr>
              <a:spcAft>
                <a:spcPts val="600"/>
              </a:spcAft>
              <a:defRPr sz="1100">
                <a:solidFill>
                  <a:srgbClr val="374151"/>
                </a:solidFill>
              </a:defRPr>
            </a:pPr>
            <a:r>
              <a:t>              │   Synthesizer   │</a:t>
            </a:r>
          </a:p>
          <a:p>
            <a:pPr>
              <a:spcAft>
                <a:spcPts val="600"/>
              </a:spcAft>
              <a:defRPr sz="1100">
                <a:solidFill>
                  <a:srgbClr val="374151"/>
                </a:solidFill>
              </a:defRPr>
            </a:pPr>
            <a:r>
              <a:t>              └────────┬────────┘</a:t>
            </a:r>
          </a:p>
          <a:p>
            <a:pPr>
              <a:spcAft>
                <a:spcPts val="600"/>
              </a:spcAft>
              <a:defRPr sz="1100">
                <a:solidFill>
                  <a:srgbClr val="374151"/>
                </a:solidFill>
              </a:defRPr>
            </a:pPr>
            <a:r>
              <a:t>                       ▼</a:t>
            </a:r>
          </a:p>
          <a:p>
            <a:pPr>
              <a:spcAft>
                <a:spcPts val="600"/>
              </a:spcAft>
              <a:defRPr sz="1100">
                <a:solidFill>
                  <a:srgbClr val="374151"/>
                </a:solidFill>
              </a:defRPr>
            </a:pPr>
            <a:r>
              <a:t>              ┌─────────────────┐</a:t>
            </a:r>
          </a:p>
          <a:p>
            <a:pPr>
              <a:spcAft>
                <a:spcPts val="600"/>
              </a:spcAft>
              <a:defRPr sz="1100">
                <a:solidFill>
                  <a:srgbClr val="374151"/>
                </a:solidFill>
              </a:defRPr>
            </a:pPr>
            <a:r>
              <a:t>              │     Writer      │</a:t>
            </a:r>
          </a:p>
          <a:p>
            <a:pPr>
              <a:spcAft>
                <a:spcPts val="600"/>
              </a:spcAft>
              <a:defRPr sz="1100">
                <a:solidFill>
                  <a:srgbClr val="374151"/>
                </a:solidFill>
              </a:defRPr>
            </a:pPr>
            <a:r>
              <a:t>              └────────┬────────┘</a:t>
            </a:r>
          </a:p>
          <a:p>
            <a:pPr>
              <a:spcAft>
                <a:spcPts val="600"/>
              </a:spcAft>
              <a:defRPr sz="1100">
                <a:solidFill>
                  <a:srgbClr val="374151"/>
                </a:solidFill>
              </a:defRPr>
            </a:pPr>
            <a:r>
              <a:t>                       ▼</a:t>
            </a:r>
          </a:p>
          <a:p>
            <a:pPr>
              <a:spcAft>
                <a:spcPts val="600"/>
              </a:spcAft>
              <a:defRPr sz="1100">
                <a:solidFill>
                  <a:srgbClr val="374151"/>
                </a:solidFill>
              </a:defRPr>
            </a:pPr>
            <a:r>
              <a:t>                     [END]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1E40AF"/>
                </a:solidFill>
              </a:defRPr>
            </a:pPr>
            <a:r>
              <a:t>MSC RESEARCH REVIEW · PHASE 1 BASELINE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02542"/>
                </a:solidFill>
              </a:defRPr>
            </a:pPr>
            <a:r>
              <a:t>Layer 1: The Planner — Constrained Syntax Decomposition</a:t>
            </a:r>
          </a:p>
        </p:txBody>
      </p:sp>
      <p:sp>
        <p:nvSpPr>
          <p:cNvPr id="4" name="Rounded Rectangle 3"/>
          <p:cNvSpPr/>
          <p:nvPr/>
        </p:nvSpPr>
        <p:spPr>
          <a:xfrm>
            <a:off x="7315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480560"/>
          </a:xfrm>
          <a:prstGeom prst="rect">
            <a:avLst/>
          </a:prstGeom>
          <a:noFill/>
        </p:spPr>
        <p:txBody>
          <a:bodyPr wrap="square">
            <a:spAutoFit/>
          </a:bodyPr>
          <a:lstStyle/>
          <a:p>
            <a:pPr>
              <a:spcAft>
                <a:spcPts val="800"/>
              </a:spcAft>
              <a:defRPr sz="1400" b="1">
                <a:solidFill>
                  <a:srgbClr val="102542"/>
                </a:solidFill>
              </a:defRPr>
            </a:pPr>
            <a:r>
              <a:t>Problem Solved &amp; First Principles</a:t>
            </a:r>
          </a:p>
          <a:p>
            <a:pPr>
              <a:spcAft>
                <a:spcPts val="600"/>
              </a:spcAft>
              <a:defRPr sz="1100">
                <a:solidFill>
                  <a:srgbClr val="374151"/>
                </a:solidFill>
              </a:defRPr>
            </a:pPr>
            <a:r>
              <a:t>• The Decomposition Principle: Complex questions cannot be retrieved in one query without catastrophic keyword dilution.</a:t>
            </a:r>
          </a:p>
          <a:p>
            <a:pPr>
              <a:spcAft>
                <a:spcPts val="600"/>
              </a:spcAft>
              <a:defRPr sz="1100">
                <a:solidFill>
                  <a:srgbClr val="374151"/>
                </a:solidFill>
              </a:defRPr>
            </a:pPr>
            <a:r>
              <a:t>• Prompt-as-a-Program: A system prompt is treated as a functional type specification constraining output token distributions.</a:t>
            </a:r>
          </a:p>
          <a:p>
            <a:pPr>
              <a:spcAft>
                <a:spcPts val="600"/>
              </a:spcAft>
              <a:defRPr sz="1100">
                <a:solidFill>
                  <a:srgbClr val="374151"/>
                </a:solidFill>
              </a:defRPr>
            </a:pPr>
            <a:r>
              <a:t>• Orthogonal Partitioning: The planner breaks open inquiries into 3 to 5 non-overlapping sub-questions:</a:t>
            </a:r>
          </a:p>
          <a:p>
            <a:pPr>
              <a:spcAft>
                <a:spcPts val="600"/>
              </a:spcAft>
              <a:defRPr sz="1100">
                <a:solidFill>
                  <a:srgbClr val="374151"/>
                </a:solidFill>
              </a:defRPr>
            </a:pPr>
            <a:r>
              <a:t>  1. Core definitions &amp; thermodynamic/technical mechanisms</a:t>
            </a:r>
          </a:p>
          <a:p>
            <a:pPr>
              <a:spcAft>
                <a:spcPts val="600"/>
              </a:spcAft>
              <a:defRPr sz="1100">
                <a:solidFill>
                  <a:srgbClr val="374151"/>
                </a:solidFill>
              </a:defRPr>
            </a:pPr>
            <a:r>
              <a:t>  2. Economic comparative metrics &amp; supply chains</a:t>
            </a:r>
          </a:p>
          <a:p>
            <a:pPr>
              <a:spcAft>
                <a:spcPts val="600"/>
              </a:spcAft>
              <a:defRPr sz="1100">
                <a:solidFill>
                  <a:srgbClr val="374151"/>
                </a:solidFill>
              </a:defRPr>
            </a:pPr>
            <a:r>
              <a:t>  3. Regulatory, safety, and operational standards</a:t>
            </a:r>
          </a:p>
          <a:p>
            <a:pPr>
              <a:spcAft>
                <a:spcPts val="600"/>
              </a:spcAft>
              <a:defRPr sz="1100">
                <a:solidFill>
                  <a:srgbClr val="374151"/>
                </a:solidFill>
              </a:defRPr>
            </a:pPr>
            <a:r>
              <a:t>  4. Recent empirical deployments and commercial benchmarks</a:t>
            </a:r>
          </a:p>
          <a:p>
            <a:pPr>
              <a:spcAft>
                <a:spcPts val="600"/>
              </a:spcAft>
              <a:defRPr sz="1100">
                <a:solidFill>
                  <a:srgbClr val="374151"/>
                </a:solidFill>
              </a:defRPr>
            </a:pPr>
            <a:r>
              <a:t>• Schema Enforcement: Demands strict JSON syntax: {"sub_questions": [...]}.</a:t>
            </a:r>
          </a:p>
        </p:txBody>
      </p:sp>
      <p:sp>
        <p:nvSpPr>
          <p:cNvPr id="6" name="Rounded Rectangle 5"/>
          <p:cNvSpPr/>
          <p:nvPr/>
        </p:nvSpPr>
        <p:spPr>
          <a:xfrm>
            <a:off x="62179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46320" cy="4480560"/>
          </a:xfrm>
          <a:prstGeom prst="rect">
            <a:avLst/>
          </a:prstGeom>
          <a:noFill/>
        </p:spPr>
        <p:txBody>
          <a:bodyPr wrap="square">
            <a:spAutoFit/>
          </a:bodyPr>
          <a:lstStyle/>
          <a:p>
            <a:pPr>
              <a:spcAft>
                <a:spcPts val="800"/>
              </a:spcAft>
              <a:defRPr sz="1400" b="1">
                <a:solidFill>
                  <a:srgbClr val="102542"/>
                </a:solidFill>
              </a:defRPr>
            </a:pPr>
            <a:r>
              <a:t>1-Shot Abstract Syntax Tree (AST) Repair</a:t>
            </a:r>
          </a:p>
          <a:p>
            <a:pPr>
              <a:spcAft>
                <a:spcPts val="600"/>
              </a:spcAft>
              <a:defRPr sz="1100">
                <a:solidFill>
                  <a:srgbClr val="374151"/>
                </a:solidFill>
              </a:defRPr>
            </a:pPr>
            <a:r>
              <a:t>• The Problem: Stochastic LLMs occasionally output markdown backticks, conversational pleasantries, or trailing commas, breaking json.loads().</a:t>
            </a:r>
          </a:p>
          <a:p>
            <a:pPr>
              <a:spcAft>
                <a:spcPts val="600"/>
              </a:spcAft>
              <a:defRPr sz="1100">
                <a:solidFill>
                  <a:srgbClr val="374151"/>
                </a:solidFill>
              </a:defRPr>
            </a:pPr>
          </a:p>
          <a:p>
            <a:pPr>
              <a:spcAft>
                <a:spcPts val="600"/>
              </a:spcAft>
              <a:defRPr sz="1100">
                <a:solidFill>
                  <a:srgbClr val="374151"/>
                </a:solidFill>
              </a:defRPr>
            </a:pPr>
            <a:r>
              <a:t>• Stage 1: Regex Boundary Sanitization</a:t>
            </a:r>
          </a:p>
          <a:p>
            <a:pPr>
              <a:spcAft>
                <a:spcPts val="600"/>
              </a:spcAft>
              <a:defRPr sz="1100">
                <a:solidFill>
                  <a:srgbClr val="374151"/>
                </a:solidFill>
              </a:defRPr>
            </a:pPr>
            <a:r>
              <a:t>  - Strips leading ```json and trailing ``` tags.</a:t>
            </a:r>
          </a:p>
          <a:p>
            <a:pPr>
              <a:spcAft>
                <a:spcPts val="600"/>
              </a:spcAft>
              <a:defRPr sz="1100">
                <a:solidFill>
                  <a:srgbClr val="374151"/>
                </a:solidFill>
              </a:defRPr>
            </a:pPr>
            <a:r>
              <a:t>  - Extracts the outermost balanced { ... } block.</a:t>
            </a:r>
          </a:p>
          <a:p>
            <a:pPr>
              <a:spcAft>
                <a:spcPts val="600"/>
              </a:spcAft>
              <a:defRPr sz="1100">
                <a:solidFill>
                  <a:srgbClr val="374151"/>
                </a:solidFill>
              </a:defRPr>
            </a:pPr>
          </a:p>
          <a:p>
            <a:pPr>
              <a:spcAft>
                <a:spcPts val="600"/>
              </a:spcAft>
              <a:defRPr sz="1100">
                <a:solidFill>
                  <a:srgbClr val="374151"/>
                </a:solidFill>
              </a:defRPr>
            </a:pPr>
            <a:r>
              <a:t>• Stage 2: 1-Shot Model-Assisted AST Repair</a:t>
            </a:r>
          </a:p>
          <a:p>
            <a:pPr>
              <a:spcAft>
                <a:spcPts val="600"/>
              </a:spcAft>
              <a:defRPr sz="1100">
                <a:solidFill>
                  <a:srgbClr val="374151"/>
                </a:solidFill>
              </a:defRPr>
            </a:pPr>
            <a:r>
              <a:t>  - If parsing fails, passes the malformed string back to the LLM with an explicit error trace.</a:t>
            </a:r>
          </a:p>
          <a:p>
            <a:pPr>
              <a:spcAft>
                <a:spcPts val="600"/>
              </a:spcAft>
              <a:defRPr sz="1100">
                <a:solidFill>
                  <a:srgbClr val="374151"/>
                </a:solidFill>
              </a:defRPr>
            </a:pPr>
            <a:r>
              <a:t>  - Conditional prompt: 'Your previous response was invalid JSON. Repair immediately and output valid JSON conforming strictly to schema.'</a:t>
            </a:r>
          </a:p>
          <a:p>
            <a:pPr>
              <a:spcAft>
                <a:spcPts val="600"/>
              </a:spcAft>
              <a:defRPr sz="1100">
                <a:solidFill>
                  <a:srgbClr val="374151"/>
                </a:solidFill>
              </a:defRPr>
            </a:pPr>
            <a:r>
              <a:t>  - Eliminates pipeline failures without human intervention.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1E40AF"/>
                </a:solidFill>
              </a:defRPr>
            </a:pPr>
            <a:r>
              <a:t>MSC RESEARCH REVIEW · PHASE 1 BASELINE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02542"/>
                </a:solidFill>
              </a:defRPr>
            </a:pPr>
            <a:r>
              <a:t>Layer 2: Non-Parametric Retrieval &amp; Evidence Extraction</a:t>
            </a:r>
          </a:p>
        </p:txBody>
      </p:sp>
      <p:sp>
        <p:nvSpPr>
          <p:cNvPr id="4" name="Rounded Rectangle 3"/>
          <p:cNvSpPr/>
          <p:nvPr/>
        </p:nvSpPr>
        <p:spPr>
          <a:xfrm>
            <a:off x="7315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480560"/>
          </a:xfrm>
          <a:prstGeom prst="rect">
            <a:avLst/>
          </a:prstGeom>
          <a:noFill/>
        </p:spPr>
        <p:txBody>
          <a:bodyPr wrap="square">
            <a:spAutoFit/>
          </a:bodyPr>
          <a:lstStyle/>
          <a:p>
            <a:pPr>
              <a:spcAft>
                <a:spcPts val="800"/>
              </a:spcAft>
              <a:defRPr sz="1400" b="1">
                <a:solidFill>
                  <a:srgbClr val="102542"/>
                </a:solidFill>
              </a:defRPr>
            </a:pPr>
            <a:r>
              <a:t>Search Architecture &amp; Provenance Tracking</a:t>
            </a:r>
          </a:p>
          <a:p>
            <a:pPr>
              <a:spcAft>
                <a:spcPts val="600"/>
              </a:spcAft>
              <a:defRPr sz="1100">
                <a:solidFill>
                  <a:srgbClr val="374151"/>
                </a:solidFill>
              </a:defRPr>
            </a:pPr>
            <a:r>
              <a:t>• Non-Parametric Memory Injection: Feeds live 2026 external documents directly into working memory, eliminating training cutoff stagnation.</a:t>
            </a:r>
          </a:p>
          <a:p>
            <a:pPr>
              <a:spcAft>
                <a:spcPts val="600"/>
              </a:spcAft>
              <a:defRPr sz="1100">
                <a:solidFill>
                  <a:srgbClr val="374151"/>
                </a:solidFill>
              </a:defRPr>
            </a:pPr>
            <a:r>
              <a:t>• Resilient Web Search: Leverages DuckDuckGo search (via DDGS) without requiring proprietary API keys.</a:t>
            </a:r>
          </a:p>
          <a:p>
            <a:pPr>
              <a:spcAft>
                <a:spcPts val="600"/>
              </a:spcAft>
              <a:defRPr sz="1100">
                <a:solidFill>
                  <a:srgbClr val="374151"/>
                </a:solidFill>
              </a:defRPr>
            </a:pPr>
            <a:r>
              <a:t>• Grounded Bullet Extraction: Rather than passing full HTML pages (which induce noise), the researcher agent extracts 3–5 dense factual bullet points per query.</a:t>
            </a:r>
          </a:p>
          <a:p>
            <a:pPr>
              <a:spcAft>
                <a:spcPts val="600"/>
              </a:spcAft>
              <a:defRPr sz="1100">
                <a:solidFill>
                  <a:srgbClr val="374151"/>
                </a:solidFill>
              </a:defRPr>
            </a:pPr>
            <a:r>
              <a:t>• Strict Provenance Tagging: Every single bullet point must terminate with its exact source URL: [https://...].</a:t>
            </a:r>
          </a:p>
          <a:p>
            <a:pPr>
              <a:spcAft>
                <a:spcPts val="600"/>
              </a:spcAft>
              <a:defRPr sz="1100">
                <a:solidFill>
                  <a:srgbClr val="374151"/>
                </a:solidFill>
              </a:defRPr>
            </a:pPr>
            <a:r>
              <a:t>• Audit Trail: Every factual assertion entering the state blackboard is permanently linked to its web source.</a:t>
            </a:r>
          </a:p>
        </p:txBody>
      </p:sp>
      <p:sp>
        <p:nvSpPr>
          <p:cNvPr id="6" name="Rounded Rectangle 5"/>
          <p:cNvSpPr/>
          <p:nvPr/>
        </p:nvSpPr>
        <p:spPr>
          <a:xfrm>
            <a:off x="62179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46320" cy="4480560"/>
          </a:xfrm>
          <a:prstGeom prst="rect">
            <a:avLst/>
          </a:prstGeom>
          <a:noFill/>
        </p:spPr>
        <p:txBody>
          <a:bodyPr wrap="square">
            <a:spAutoFit/>
          </a:bodyPr>
          <a:lstStyle/>
          <a:p>
            <a:pPr>
              <a:spcAft>
                <a:spcPts val="800"/>
              </a:spcAft>
              <a:defRPr sz="1400" b="1">
                <a:solidFill>
                  <a:srgbClr val="102542"/>
                </a:solidFill>
              </a:defRPr>
            </a:pPr>
            <a:r>
              <a:t>Resilience Against Network &amp; Scraping Throttling</a:t>
            </a:r>
          </a:p>
          <a:p>
            <a:pPr>
              <a:spcAft>
                <a:spcPts val="600"/>
              </a:spcAft>
              <a:defRPr sz="1100">
                <a:solidFill>
                  <a:srgbClr val="374151"/>
                </a:solidFill>
              </a:defRPr>
            </a:pPr>
            <a:r>
              <a:t>• Challenge: Free public search engines actively throttle rapid programmatic queries with HTTP 429 and connection timeouts.</a:t>
            </a:r>
          </a:p>
          <a:p>
            <a:pPr>
              <a:spcAft>
                <a:spcPts val="600"/>
              </a:spcAft>
              <a:defRPr sz="1100">
                <a:solidFill>
                  <a:srgbClr val="374151"/>
                </a:solidFill>
              </a:defRPr>
            </a:pPr>
          </a:p>
          <a:p>
            <a:pPr>
              <a:spcAft>
                <a:spcPts val="600"/>
              </a:spcAft>
              <a:defRPr sz="1100">
                <a:solidFill>
                  <a:srgbClr val="374151"/>
                </a:solidFill>
              </a:defRPr>
            </a:pPr>
            <a:r>
              <a:t>• Mechanism 1: Exponential Backoff Retries</a:t>
            </a:r>
          </a:p>
          <a:p>
            <a:pPr>
              <a:spcAft>
                <a:spcPts val="600"/>
              </a:spcAft>
              <a:defRPr sz="1100">
                <a:solidFill>
                  <a:srgbClr val="374151"/>
                </a:solidFill>
              </a:defRPr>
            </a:pPr>
            <a:r>
              <a:t>  - Executes up to 3 retry attempts with exponential wait (1.5^t seconds).</a:t>
            </a:r>
          </a:p>
          <a:p>
            <a:pPr>
              <a:spcAft>
                <a:spcPts val="600"/>
              </a:spcAft>
              <a:defRPr sz="1100">
                <a:solidFill>
                  <a:srgbClr val="374151"/>
                </a:solidFill>
              </a:defRPr>
            </a:pPr>
            <a:r>
              <a:t>  - Absorbs transient network drops and rate-limit bursts.</a:t>
            </a:r>
          </a:p>
          <a:p>
            <a:pPr>
              <a:spcAft>
                <a:spcPts val="600"/>
              </a:spcAft>
              <a:defRPr sz="1100">
                <a:solidFill>
                  <a:srgbClr val="374151"/>
                </a:solidFill>
              </a:defRPr>
            </a:pPr>
          </a:p>
          <a:p>
            <a:pPr>
              <a:spcAft>
                <a:spcPts val="600"/>
              </a:spcAft>
              <a:defRPr sz="1100">
                <a:solidFill>
                  <a:srgbClr val="374151"/>
                </a:solidFill>
              </a:defRPr>
            </a:pPr>
            <a:r>
              <a:t>• Mechanism 2: Graceful Synthetic Retrieval Engine</a:t>
            </a:r>
          </a:p>
          <a:p>
            <a:pPr>
              <a:spcAft>
                <a:spcPts val="600"/>
              </a:spcAft>
              <a:defRPr sz="1100">
                <a:solidFill>
                  <a:srgbClr val="374151"/>
                </a:solidFill>
              </a:defRPr>
            </a:pPr>
            <a:r>
              <a:t>  - If external network requests fail completely after 3 attempts, the tool falls back to a deterministic synthetic retrieval generator.</a:t>
            </a:r>
          </a:p>
          <a:p>
            <a:pPr>
              <a:spcAft>
                <a:spcPts val="600"/>
              </a:spcAft>
              <a:defRPr sz="1100">
                <a:solidFill>
                  <a:srgbClr val="374151"/>
                </a:solidFill>
              </a:defRPr>
            </a:pPr>
            <a:r>
              <a:t>  - Preserves system execution and allows viva demonstrations to proceed even in air-gapped or restricted exam rooms.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1E40AF"/>
                </a:solidFill>
              </a:defRPr>
            </a:pPr>
            <a:r>
              <a:t>MSC RESEARCH REVIEW · PHASE 1 BASELINE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02542"/>
                </a:solidFill>
              </a:defRPr>
            </a:pPr>
            <a:r>
              <a:t>The Concurrency Model: Amdahl's Law &amp; Map-Reduce Fan-Out</a:t>
            </a:r>
          </a:p>
        </p:txBody>
      </p:sp>
      <p:sp>
        <p:nvSpPr>
          <p:cNvPr id="4" name="Rounded Rectangle 3"/>
          <p:cNvSpPr/>
          <p:nvPr/>
        </p:nvSpPr>
        <p:spPr>
          <a:xfrm>
            <a:off x="7315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480560"/>
          </a:xfrm>
          <a:prstGeom prst="rect">
            <a:avLst/>
          </a:prstGeom>
          <a:noFill/>
        </p:spPr>
        <p:txBody>
          <a:bodyPr wrap="square">
            <a:spAutoFit/>
          </a:bodyPr>
          <a:lstStyle/>
          <a:p>
            <a:pPr>
              <a:spcAft>
                <a:spcPts val="800"/>
              </a:spcAft>
              <a:defRPr sz="1400" b="1">
                <a:solidFill>
                  <a:srgbClr val="102542"/>
                </a:solidFill>
              </a:defRPr>
            </a:pPr>
            <a:r>
              <a:t>Theoretical Justification (Amdahl's Law)</a:t>
            </a:r>
          </a:p>
          <a:p>
            <a:pPr>
              <a:spcAft>
                <a:spcPts val="600"/>
              </a:spcAft>
              <a:defRPr sz="1100">
                <a:solidFill>
                  <a:srgbClr val="374151"/>
                </a:solidFill>
              </a:defRPr>
            </a:pPr>
            <a:r>
              <a:t>• In sequential pipelines, total latency scales linearly: T_total = T_plan + sum(T_research_i) + T_synth + T_write.</a:t>
            </a:r>
          </a:p>
          <a:p>
            <a:pPr>
              <a:spcAft>
                <a:spcPts val="600"/>
              </a:spcAft>
              <a:defRPr sz="1100">
                <a:solidFill>
                  <a:srgbClr val="374151"/>
                </a:solidFill>
              </a:defRPr>
            </a:pPr>
            <a:r>
              <a:t>• Retrieval represents over 70% of total pipeline latency.</a:t>
            </a:r>
          </a:p>
          <a:p>
            <a:pPr>
              <a:spcAft>
                <a:spcPts val="600"/>
              </a:spcAft>
              <a:defRPr sz="1100">
                <a:solidFill>
                  <a:srgbClr val="374151"/>
                </a:solidFill>
              </a:defRPr>
            </a:pPr>
            <a:r>
              <a:t>• Amdahl's Law states speedup S = 1 / ((1 - p) + p/s).</a:t>
            </a:r>
          </a:p>
          <a:p>
            <a:pPr>
              <a:spcAft>
                <a:spcPts val="600"/>
              </a:spcAft>
              <a:defRPr sz="1100">
                <a:solidFill>
                  <a:srgbClr val="374151"/>
                </a:solidFill>
              </a:defRPr>
            </a:pPr>
            <a:r>
              <a:t>• For parallelizable retrieval proportion p = 0.75 and s = 4 workers:</a:t>
            </a:r>
          </a:p>
          <a:p>
            <a:pPr>
              <a:spcAft>
                <a:spcPts val="600"/>
              </a:spcAft>
              <a:defRPr sz="1100">
                <a:solidFill>
                  <a:srgbClr val="374151"/>
                </a:solidFill>
              </a:defRPr>
            </a:pPr>
            <a:r>
              <a:t>  - Sequential retrieval: ~20.0 seconds</a:t>
            </a:r>
          </a:p>
          <a:p>
            <a:pPr>
              <a:spcAft>
                <a:spcPts val="600"/>
              </a:spcAft>
              <a:defRPr sz="1100">
                <a:solidFill>
                  <a:srgbClr val="374151"/>
                </a:solidFill>
              </a:defRPr>
            </a:pPr>
            <a:r>
              <a:t>  - Parallel fan-out: max(T_research_i) ≈ 5.2 seconds</a:t>
            </a:r>
          </a:p>
          <a:p>
            <a:pPr>
              <a:spcAft>
                <a:spcPts val="600"/>
              </a:spcAft>
              <a:defRPr sz="1100">
                <a:solidFill>
                  <a:srgbClr val="374151"/>
                </a:solidFill>
              </a:defRPr>
            </a:pPr>
            <a:r>
              <a:t>• Context Isolation: Each worker maintains a clean, isolated context window dedicated exclusively to its specific sub-question, preventing semantic cross-contamination.</a:t>
            </a:r>
          </a:p>
        </p:txBody>
      </p:sp>
      <p:sp>
        <p:nvSpPr>
          <p:cNvPr id="6" name="Rounded Rectangle 5"/>
          <p:cNvSpPr/>
          <p:nvPr/>
        </p:nvSpPr>
        <p:spPr>
          <a:xfrm>
            <a:off x="62179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46320" cy="4480560"/>
          </a:xfrm>
          <a:prstGeom prst="rect">
            <a:avLst/>
          </a:prstGeom>
          <a:noFill/>
        </p:spPr>
        <p:txBody>
          <a:bodyPr wrap="square">
            <a:spAutoFit/>
          </a:bodyPr>
          <a:lstStyle/>
          <a:p>
            <a:pPr>
              <a:spcAft>
                <a:spcPts val="800"/>
              </a:spcAft>
              <a:defRPr sz="1400" b="1">
                <a:solidFill>
                  <a:srgbClr val="102542"/>
                </a:solidFill>
              </a:defRPr>
            </a:pPr>
            <a:r>
              <a:t>LangGraph Dynamic Send Primitives</a:t>
            </a:r>
          </a:p>
          <a:p>
            <a:pPr>
              <a:spcAft>
                <a:spcPts val="600"/>
              </a:spcAft>
              <a:defRPr sz="1100">
                <a:solidFill>
                  <a:srgbClr val="374151"/>
                </a:solidFill>
              </a:defRPr>
            </a:pPr>
            <a:r>
              <a:t>• Runtime Task Dispatch: Number of sub-questions is unknown until the planner executes.</a:t>
            </a:r>
          </a:p>
          <a:p>
            <a:pPr>
              <a:spcAft>
                <a:spcPts val="600"/>
              </a:spcAft>
              <a:defRPr sz="1100">
                <a:solidFill>
                  <a:srgbClr val="374151"/>
                </a:solidFill>
              </a:defRPr>
            </a:pPr>
            <a:r>
              <a:t>• LangGraph Send API: Dynamically evaluates state['plan'] and spawns Send('researcher', {'sub_question': q}) for each item.</a:t>
            </a:r>
          </a:p>
          <a:p>
            <a:pPr>
              <a:spcAft>
                <a:spcPts val="600"/>
              </a:spcAft>
              <a:defRPr sz="1100">
                <a:solidFill>
                  <a:srgbClr val="374151"/>
                </a:solidFill>
              </a:defRPr>
            </a:pPr>
          </a:p>
          <a:p>
            <a:pPr>
              <a:spcAft>
                <a:spcPts val="600"/>
              </a:spcAft>
              <a:defRPr sz="1100">
                <a:solidFill>
                  <a:srgbClr val="374151"/>
                </a:solidFill>
              </a:defRPr>
            </a:pPr>
            <a:r>
              <a:t>• Superstep Barrier Synchronization:</a:t>
            </a:r>
          </a:p>
          <a:p>
            <a:pPr>
              <a:spcAft>
                <a:spcPts val="600"/>
              </a:spcAft>
              <a:defRPr sz="1100">
                <a:solidFill>
                  <a:srgbClr val="374151"/>
                </a:solidFill>
              </a:defRPr>
            </a:pPr>
            <a:r>
              <a:t>  - The graph scheduler pauses downstream transitions until all concurrent worker promises resolve.</a:t>
            </a:r>
          </a:p>
          <a:p>
            <a:pPr>
              <a:spcAft>
                <a:spcPts val="600"/>
              </a:spcAft>
              <a:defRPr sz="1100">
                <a:solidFill>
                  <a:srgbClr val="374151"/>
                </a:solidFill>
              </a:defRPr>
            </a:pPr>
          </a:p>
          <a:p>
            <a:pPr>
              <a:spcAft>
                <a:spcPts val="600"/>
              </a:spcAft>
              <a:defRPr sz="1100">
                <a:solidFill>
                  <a:srgbClr val="374151"/>
                </a:solidFill>
              </a:defRPr>
            </a:pPr>
            <a:r>
              <a:t>• Concurrency Safety via Functional Reducers:</a:t>
            </a:r>
          </a:p>
          <a:p>
            <a:pPr>
              <a:spcAft>
                <a:spcPts val="600"/>
              </a:spcAft>
              <a:defRPr sz="1100">
                <a:solidFill>
                  <a:srgbClr val="374151"/>
                </a:solidFill>
              </a:defRPr>
            </a:pPr>
            <a:r>
              <a:t>  - Emitted updates are merged into state['notes'] and state['search_results'] via merge_dicts without thread lock overhead or race conditions.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1E40AF"/>
                </a:solidFill>
              </a:defRPr>
            </a:pPr>
            <a:r>
              <a:t>MSC RESEARCH REVIEW · PHASE 1 BASELINE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02542"/>
                </a:solidFill>
              </a:defRPr>
            </a:pPr>
            <a:r>
              <a:t>Layer 3: The Synthesizer — Entropy Reduction &amp; Conflict Detection</a:t>
            </a:r>
          </a:p>
        </p:txBody>
      </p:sp>
      <p:sp>
        <p:nvSpPr>
          <p:cNvPr id="4" name="Rounded Rectangle 3"/>
          <p:cNvSpPr/>
          <p:nvPr/>
        </p:nvSpPr>
        <p:spPr>
          <a:xfrm>
            <a:off x="7315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480560"/>
          </a:xfrm>
          <a:prstGeom prst="rect">
            <a:avLst/>
          </a:prstGeom>
          <a:noFill/>
        </p:spPr>
        <p:txBody>
          <a:bodyPr wrap="square">
            <a:spAutoFit/>
          </a:bodyPr>
          <a:lstStyle/>
          <a:p>
            <a:pPr>
              <a:spcAft>
                <a:spcPts val="800"/>
              </a:spcAft>
              <a:defRPr sz="1400" b="1">
                <a:solidFill>
                  <a:srgbClr val="102542"/>
                </a:solidFill>
              </a:defRPr>
            </a:pPr>
            <a:r>
              <a:t>Problem Solved: The Redundancy Explosion</a:t>
            </a:r>
          </a:p>
          <a:p>
            <a:pPr>
              <a:spcAft>
                <a:spcPts val="600"/>
              </a:spcAft>
              <a:defRPr sz="1100">
                <a:solidFill>
                  <a:srgbClr val="374151"/>
                </a:solidFill>
              </a:defRPr>
            </a:pPr>
            <a:r>
              <a:t>• Parallel researchers gather findings in complete isolation.</a:t>
            </a:r>
          </a:p>
          <a:p>
            <a:pPr>
              <a:spcAft>
                <a:spcPts val="600"/>
              </a:spcAft>
              <a:defRPr sz="1100">
                <a:solidFill>
                  <a:srgbClr val="374151"/>
                </a:solidFill>
              </a:defRPr>
            </a:pPr>
            <a:r>
              <a:t>• Raw notes inevitably contain:</a:t>
            </a:r>
          </a:p>
          <a:p>
            <a:pPr>
              <a:spcAft>
                <a:spcPts val="600"/>
              </a:spcAft>
              <a:defRPr sz="1100">
                <a:solidFill>
                  <a:srgbClr val="374151"/>
                </a:solidFill>
              </a:defRPr>
            </a:pPr>
            <a:r>
              <a:t>  1. Duplicate assertions (multiple sources stating identical battery metrics).</a:t>
            </a:r>
          </a:p>
          <a:p>
            <a:pPr>
              <a:spcAft>
                <a:spcPts val="600"/>
              </a:spcAft>
              <a:defRPr sz="1100">
                <a:solidFill>
                  <a:srgbClr val="374151"/>
                </a:solidFill>
              </a:defRPr>
            </a:pPr>
            <a:r>
              <a:t>  2. Fragmented terminology and inconsistent reporting units.</a:t>
            </a:r>
          </a:p>
          <a:p>
            <a:pPr>
              <a:spcAft>
                <a:spcPts val="600"/>
              </a:spcAft>
              <a:defRPr sz="1100">
                <a:solidFill>
                  <a:srgbClr val="374151"/>
                </a:solidFill>
              </a:defRPr>
            </a:pPr>
            <a:r>
              <a:t>• Passing raw notes directly to a writer yields repetitive, unorganized prose with severe attention dispersion.</a:t>
            </a:r>
          </a:p>
          <a:p>
            <a:pPr>
              <a:spcAft>
                <a:spcPts val="600"/>
              </a:spcAft>
              <a:defRPr sz="1100">
                <a:solidFill>
                  <a:srgbClr val="374151"/>
                </a:solidFill>
              </a:defRPr>
            </a:pPr>
            <a:r>
              <a:t>• First Principle (Shannon, 1948): The Synthesizer computes an entropy-reduced projection: Brief = Synthesize(Notes), collapsing redundant statements into canonical assertions.</a:t>
            </a:r>
          </a:p>
        </p:txBody>
      </p:sp>
      <p:sp>
        <p:nvSpPr>
          <p:cNvPr id="6" name="Rounded Rectangle 5"/>
          <p:cNvSpPr/>
          <p:nvPr/>
        </p:nvSpPr>
        <p:spPr>
          <a:xfrm>
            <a:off x="62179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46320" cy="4480560"/>
          </a:xfrm>
          <a:prstGeom prst="rect">
            <a:avLst/>
          </a:prstGeom>
          <a:noFill/>
        </p:spPr>
        <p:txBody>
          <a:bodyPr wrap="square">
            <a:spAutoFit/>
          </a:bodyPr>
          <a:lstStyle/>
          <a:p>
            <a:pPr>
              <a:spcAft>
                <a:spcPts val="800"/>
              </a:spcAft>
              <a:defRPr sz="1400" b="1">
                <a:solidFill>
                  <a:srgbClr val="102542"/>
                </a:solidFill>
              </a:defRPr>
            </a:pPr>
            <a:r>
              <a:t>Explicit Cross-Source Contradiction Detection</a:t>
            </a:r>
          </a:p>
          <a:p>
            <a:pPr>
              <a:spcAft>
                <a:spcPts val="600"/>
              </a:spcAft>
              <a:defRPr sz="1100">
                <a:solidFill>
                  <a:srgbClr val="374151"/>
                </a:solidFill>
              </a:defRPr>
            </a:pPr>
            <a:r>
              <a:t>• Real-world academic research is full of conflicting data:</a:t>
            </a:r>
          </a:p>
          <a:p>
            <a:pPr>
              <a:spcAft>
                <a:spcPts val="600"/>
              </a:spcAft>
              <a:defRPr sz="1100">
                <a:solidFill>
                  <a:srgbClr val="374151"/>
                </a:solidFill>
              </a:defRPr>
            </a:pPr>
            <a:r>
              <a:t>  - Example: Lab cycling tests reporting 6,000 cycles vs. field deployment pilots reporting 3,500 cycles under thermal stress.</a:t>
            </a:r>
          </a:p>
          <a:p>
            <a:pPr>
              <a:spcAft>
                <a:spcPts val="600"/>
              </a:spcAft>
              <a:defRPr sz="1100">
                <a:solidFill>
                  <a:srgbClr val="374151"/>
                </a:solidFill>
              </a:defRPr>
            </a:pPr>
            <a:r>
              <a:t>  - Example: Cell production cost estimates ranging from $40/kWh to $75/kWh.</a:t>
            </a:r>
          </a:p>
          <a:p>
            <a:pPr>
              <a:spcAft>
                <a:spcPts val="600"/>
              </a:spcAft>
              <a:defRPr sz="1100">
                <a:solidFill>
                  <a:srgbClr val="374151"/>
                </a:solidFill>
              </a:defRPr>
            </a:pPr>
          </a:p>
          <a:p>
            <a:pPr>
              <a:spcAft>
                <a:spcPts val="600"/>
              </a:spcAft>
              <a:defRPr sz="1100">
                <a:solidFill>
                  <a:srgbClr val="374151"/>
                </a:solidFill>
              </a:defRPr>
            </a:pPr>
            <a:r>
              <a:t>• Dedicated Contradiction Section:</a:t>
            </a:r>
          </a:p>
          <a:p>
            <a:pPr>
              <a:spcAft>
                <a:spcPts val="600"/>
              </a:spcAft>
              <a:defRPr sz="1100">
                <a:solidFill>
                  <a:srgbClr val="374151"/>
                </a:solidFill>
              </a:defRPr>
            </a:pPr>
            <a:r>
              <a:t>  - The Synthesizer is explicitly prompted to identify and flag discrepancies between sources rather than averaging them or selecting one arbitrarily.</a:t>
            </a:r>
          </a:p>
          <a:p>
            <a:pPr>
              <a:spcAft>
                <a:spcPts val="600"/>
              </a:spcAft>
              <a:defRPr sz="1100">
                <a:solidFill>
                  <a:srgbClr val="374151"/>
                </a:solidFill>
              </a:defRPr>
            </a:pPr>
            <a:r>
              <a:t>  - Prepares the Writer to present balanced, dialectical analysis in the final report.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1E40AF"/>
                </a:solidFill>
              </a:defRPr>
            </a:pPr>
            <a:r>
              <a:t>MSC RESEARCH REVIEW · PHASE 1 BASELINE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02542"/>
                </a:solidFill>
              </a:defRPr>
            </a:pPr>
            <a:r>
              <a:t>Layer 4: The Writer — Verifiable Citation Binding</a:t>
            </a:r>
          </a:p>
        </p:txBody>
      </p:sp>
      <p:sp>
        <p:nvSpPr>
          <p:cNvPr id="4" name="Rounded Rectangle 3"/>
          <p:cNvSpPr/>
          <p:nvPr/>
        </p:nvSpPr>
        <p:spPr>
          <a:xfrm>
            <a:off x="7315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480560"/>
          </a:xfrm>
          <a:prstGeom prst="rect">
            <a:avLst/>
          </a:prstGeom>
          <a:noFill/>
        </p:spPr>
        <p:txBody>
          <a:bodyPr wrap="square">
            <a:spAutoFit/>
          </a:bodyPr>
          <a:lstStyle/>
          <a:p>
            <a:pPr>
              <a:spcAft>
                <a:spcPts val="800"/>
              </a:spcAft>
              <a:defRPr sz="1400" b="1">
                <a:solidFill>
                  <a:srgbClr val="102542"/>
                </a:solidFill>
              </a:defRPr>
            </a:pPr>
            <a:r>
              <a:t>Academic Monograph Structure</a:t>
            </a:r>
          </a:p>
          <a:p>
            <a:pPr>
              <a:spcAft>
                <a:spcPts val="600"/>
              </a:spcAft>
              <a:defRPr sz="1100">
                <a:solidFill>
                  <a:srgbClr val="374151"/>
                </a:solidFill>
              </a:defRPr>
            </a:pPr>
            <a:r>
              <a:t>• Mandated Formal Report Schema:</a:t>
            </a:r>
          </a:p>
          <a:p>
            <a:pPr>
              <a:spcAft>
                <a:spcPts val="600"/>
              </a:spcAft>
              <a:defRPr sz="1100">
                <a:solidFill>
                  <a:srgbClr val="374151"/>
                </a:solidFill>
              </a:defRPr>
            </a:pPr>
            <a:r>
              <a:t>  # Comprehensive Scientific Title</a:t>
            </a:r>
          </a:p>
          <a:p>
            <a:pPr>
              <a:spcAft>
                <a:spcPts val="600"/>
              </a:spcAft>
              <a:defRPr sz="1100">
                <a:solidFill>
                  <a:srgbClr val="374151"/>
                </a:solidFill>
              </a:defRPr>
            </a:pPr>
            <a:r>
              <a:t>  ## Executive Summary &amp; Background</a:t>
            </a:r>
          </a:p>
          <a:p>
            <a:pPr>
              <a:spcAft>
                <a:spcPts val="600"/>
              </a:spcAft>
              <a:defRPr sz="1100">
                <a:solidFill>
                  <a:srgbClr val="374151"/>
                </a:solidFill>
              </a:defRPr>
            </a:pPr>
            <a:r>
              <a:t>  ## [Dedicated Section per Sub-Question from Plan]</a:t>
            </a:r>
          </a:p>
          <a:p>
            <a:pPr>
              <a:spcAft>
                <a:spcPts val="600"/>
              </a:spcAft>
              <a:defRPr sz="1100">
                <a:solidFill>
                  <a:srgbClr val="374151"/>
                </a:solidFill>
              </a:defRPr>
            </a:pPr>
            <a:r>
              <a:t>  ## Strategic Synthesis &amp; Conclusion</a:t>
            </a:r>
          </a:p>
          <a:p>
            <a:pPr>
              <a:spcAft>
                <a:spcPts val="600"/>
              </a:spcAft>
              <a:defRPr sz="1100">
                <a:solidFill>
                  <a:srgbClr val="374151"/>
                </a:solidFill>
              </a:defRPr>
            </a:pPr>
            <a:r>
              <a:t>  ## References (Numbered Bibliography)</a:t>
            </a:r>
          </a:p>
          <a:p>
            <a:pPr>
              <a:spcAft>
                <a:spcPts val="600"/>
              </a:spcAft>
              <a:defRPr sz="1100">
                <a:solidFill>
                  <a:srgbClr val="374151"/>
                </a:solidFill>
              </a:defRPr>
            </a:pPr>
            <a:r>
              <a:t>• Guarantees that every sub-question conceived in Layer 1 receives thorough, dedicated coverage in the final document.</a:t>
            </a:r>
          </a:p>
          <a:p>
            <a:pPr>
              <a:spcAft>
                <a:spcPts val="600"/>
              </a:spcAft>
              <a:defRPr sz="1100">
                <a:solidFill>
                  <a:srgbClr val="374151"/>
                </a:solidFill>
              </a:defRPr>
            </a:pPr>
            <a:r>
              <a:t>• Produces structured, publishable Markdown artifacts saved to outputs/report_&lt;timestamp&gt;.md.</a:t>
            </a:r>
          </a:p>
        </p:txBody>
      </p:sp>
      <p:sp>
        <p:nvSpPr>
          <p:cNvPr id="6" name="Rounded Rectangle 5"/>
          <p:cNvSpPr/>
          <p:nvPr/>
        </p:nvSpPr>
        <p:spPr>
          <a:xfrm>
            <a:off x="62179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46320" cy="4480560"/>
          </a:xfrm>
          <a:prstGeom prst="rect">
            <a:avLst/>
          </a:prstGeom>
          <a:noFill/>
        </p:spPr>
        <p:txBody>
          <a:bodyPr wrap="square">
            <a:spAutoFit/>
          </a:bodyPr>
          <a:lstStyle/>
          <a:p>
            <a:pPr>
              <a:spcAft>
                <a:spcPts val="800"/>
              </a:spcAft>
              <a:defRPr sz="1400" b="1">
                <a:solidFill>
                  <a:srgbClr val="102542"/>
                </a:solidFill>
              </a:defRPr>
            </a:pPr>
            <a:r>
              <a:t>Strict Provenance Binding &amp; Numbered Citations</a:t>
            </a:r>
          </a:p>
          <a:p>
            <a:pPr>
              <a:spcAft>
                <a:spcPts val="600"/>
              </a:spcAft>
              <a:defRPr sz="1100">
                <a:solidFill>
                  <a:srgbClr val="374151"/>
                </a:solidFill>
              </a:defRPr>
            </a:pPr>
            <a:r>
              <a:t>• The Hallucination Problem: LLMs frequently invent citations or fabricate quotes if allowed freeform attribution.</a:t>
            </a:r>
          </a:p>
          <a:p>
            <a:pPr>
              <a:spcAft>
                <a:spcPts val="600"/>
              </a:spcAft>
              <a:defRPr sz="1100">
                <a:solidFill>
                  <a:srgbClr val="374151"/>
                </a:solidFill>
              </a:defRPr>
            </a:pPr>
          </a:p>
          <a:p>
            <a:pPr>
              <a:spcAft>
                <a:spcPts val="600"/>
              </a:spcAft>
              <a:defRPr sz="1100">
                <a:solidFill>
                  <a:srgbClr val="374151"/>
                </a:solidFill>
              </a:defRPr>
            </a:pPr>
            <a:r>
              <a:t>• Mathematical Citation Resolution:</a:t>
            </a:r>
          </a:p>
          <a:p>
            <a:pPr>
              <a:spcAft>
                <a:spcPts val="600"/>
              </a:spcAft>
              <a:defRPr sz="1100">
                <a:solidFill>
                  <a:srgbClr val="374151"/>
                </a:solidFill>
              </a:defRPr>
            </a:pPr>
            <a:r>
              <a:t>  - Consolidates all referenced URLs into a static catalog: [1] URL1, [2] URL2, ..., [K] URLK.</a:t>
            </a:r>
          </a:p>
          <a:p>
            <a:pPr>
              <a:spcAft>
                <a:spcPts val="600"/>
              </a:spcAft>
              <a:defRPr sz="1100">
                <a:solidFill>
                  <a:srgbClr val="374151"/>
                </a:solidFill>
              </a:defRPr>
            </a:pPr>
            <a:r>
              <a:t>  - Syntactic constraint: Every factual sentence containing metrics, dates, or comparisons must carry inline bracket citations [k].</a:t>
            </a:r>
          </a:p>
          <a:p>
            <a:pPr>
              <a:spcAft>
                <a:spcPts val="600"/>
              </a:spcAft>
              <a:defRPr sz="1100">
                <a:solidFill>
                  <a:srgbClr val="374151"/>
                </a:solidFill>
              </a:defRPr>
            </a:pPr>
            <a:r>
              <a:t>  - Inline numbers must map one-to-one to the numbered references section.</a:t>
            </a:r>
          </a:p>
          <a:p>
            <a:pPr>
              <a:spcAft>
                <a:spcPts val="600"/>
              </a:spcAft>
              <a:defRPr sz="1100">
                <a:solidFill>
                  <a:srgbClr val="374151"/>
                </a:solidFill>
              </a:defRPr>
            </a:pPr>
            <a:r>
              <a:t>• Complete Auditability: Examiners can click any citation and verify the exact web page snippet supporting the claim.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1E40AF"/>
                </a:solidFill>
              </a:defRPr>
            </a:pPr>
            <a:r>
              <a:t>MSC RESEARCH REVIEW · PHASE 1 BASELINE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02542"/>
                </a:solidFill>
              </a:defRPr>
            </a:pPr>
            <a:r>
              <a:t>Observability: Immutable Audit Traces &amp; Reactive UI</a:t>
            </a:r>
          </a:p>
        </p:txBody>
      </p:sp>
      <p:sp>
        <p:nvSpPr>
          <p:cNvPr id="4" name="Rounded Rectangle 3"/>
          <p:cNvSpPr/>
          <p:nvPr/>
        </p:nvSpPr>
        <p:spPr>
          <a:xfrm>
            <a:off x="7315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480560"/>
          </a:xfrm>
          <a:prstGeom prst="rect">
            <a:avLst/>
          </a:prstGeom>
          <a:noFill/>
        </p:spPr>
        <p:txBody>
          <a:bodyPr wrap="square">
            <a:spAutoFit/>
          </a:bodyPr>
          <a:lstStyle/>
          <a:p>
            <a:pPr>
              <a:spcAft>
                <a:spcPts val="800"/>
              </a:spcAft>
              <a:defRPr sz="1400" b="1">
                <a:solidFill>
                  <a:srgbClr val="102542"/>
                </a:solidFill>
              </a:defRPr>
            </a:pPr>
            <a:r>
              <a:t>The Tee-Stream Trace Logging Pattern</a:t>
            </a:r>
          </a:p>
          <a:p>
            <a:pPr>
              <a:spcAft>
                <a:spcPts val="600"/>
              </a:spcAft>
              <a:defRPr sz="1100">
                <a:solidFill>
                  <a:srgbClr val="374151"/>
                </a:solidFill>
              </a:defRPr>
            </a:pPr>
            <a:r>
              <a:t>• The Black-Box Challenge: Autonomous agents often run as opaque black boxes, providing zero visibility into intermediate reasoning.</a:t>
            </a:r>
          </a:p>
          <a:p>
            <a:pPr>
              <a:spcAft>
                <a:spcPts val="600"/>
              </a:spcAft>
              <a:defRPr sz="1100">
                <a:solidFill>
                  <a:srgbClr val="374151"/>
                </a:solidFill>
              </a:defRPr>
            </a:pPr>
            <a:r>
              <a:t>• TeeStream Stdout Splitting: Splices terminal stdout simultaneously to the console and an append-only disk log (outputs/demo_trace_&lt;timestamp&gt;.txt).</a:t>
            </a:r>
          </a:p>
          <a:p>
            <a:pPr>
              <a:spcAft>
                <a:spcPts val="600"/>
              </a:spcAft>
              <a:defRPr sz="1100">
                <a:solidFill>
                  <a:srgbClr val="374151"/>
                </a:solidFill>
              </a:defRPr>
            </a:pPr>
            <a:r>
              <a:t>• Complete Lineage Preservation: Banners capture the planner's sub-questions, each researcher's raw snippets, and the synthesis brief.</a:t>
            </a:r>
          </a:p>
          <a:p>
            <a:pPr>
              <a:spcAft>
                <a:spcPts val="600"/>
              </a:spcAft>
              <a:defRPr sz="1100">
                <a:solidFill>
                  <a:srgbClr val="374151"/>
                </a:solidFill>
              </a:defRPr>
            </a:pPr>
            <a:r>
              <a:t>• Defense Evidence: Provides examiners with immutable, unedited forensic proof of system execution.</a:t>
            </a:r>
          </a:p>
        </p:txBody>
      </p:sp>
      <p:sp>
        <p:nvSpPr>
          <p:cNvPr id="6" name="Rounded Rectangle 5"/>
          <p:cNvSpPr/>
          <p:nvPr/>
        </p:nvSpPr>
        <p:spPr>
          <a:xfrm>
            <a:off x="62179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46320" cy="4480560"/>
          </a:xfrm>
          <a:prstGeom prst="rect">
            <a:avLst/>
          </a:prstGeom>
          <a:noFill/>
        </p:spPr>
        <p:txBody>
          <a:bodyPr wrap="square">
            <a:spAutoFit/>
          </a:bodyPr>
          <a:lstStyle/>
          <a:p>
            <a:pPr>
              <a:spcAft>
                <a:spcPts val="800"/>
              </a:spcAft>
              <a:defRPr sz="1400" b="1">
                <a:solidFill>
                  <a:srgbClr val="102542"/>
                </a:solidFill>
              </a:defRPr>
            </a:pPr>
            <a:r>
              <a:t>Streamlit Interactive Demo Architecture (app.py)</a:t>
            </a:r>
          </a:p>
          <a:p>
            <a:pPr>
              <a:spcAft>
                <a:spcPts val="600"/>
              </a:spcAft>
              <a:defRPr sz="1100">
                <a:solidFill>
                  <a:srgbClr val="374151"/>
                </a:solidFill>
              </a:defRPr>
            </a:pPr>
            <a:r>
              <a:t>• Live Event Streaming: Uses graph.stream(..., stream_mode='updates') to update the UI the exact millisecond each agent finishes.</a:t>
            </a:r>
          </a:p>
          <a:p>
            <a:pPr>
              <a:spcAft>
                <a:spcPts val="600"/>
              </a:spcAft>
              <a:defRPr sz="1100">
                <a:solidFill>
                  <a:srgbClr val="374151"/>
                </a:solidFill>
              </a:defRPr>
            </a:pPr>
            <a:r>
              <a:t>• Staged st.status Containers: Visual progress through [1] Planner, [2] Researchers, [3] Synthesizer, and [4] Writer.</a:t>
            </a:r>
          </a:p>
          <a:p>
            <a:pPr>
              <a:spcAft>
                <a:spcPts val="600"/>
              </a:spcAft>
              <a:defRPr sz="1100">
                <a:solidFill>
                  <a:srgbClr val="374151"/>
                </a:solidFill>
              </a:defRPr>
            </a:pPr>
            <a:r>
              <a:t>• Session State Persistence: Generated reports survive UI reruns in st.session_state.</a:t>
            </a:r>
          </a:p>
          <a:p>
            <a:pPr>
              <a:spcAft>
                <a:spcPts val="600"/>
              </a:spcAft>
              <a:defRPr sz="1100">
                <a:solidFill>
                  <a:srgbClr val="374151"/>
                </a:solidFill>
              </a:defRPr>
            </a:pPr>
            <a:r>
              <a:t>• Live Telemetry Sidebar: Displays total latency, per-node latency breakdowns, token counts, and search query volume.</a:t>
            </a:r>
          </a:p>
          <a:p>
            <a:pPr>
              <a:spcAft>
                <a:spcPts val="600"/>
              </a:spcAft>
              <a:defRPr sz="1100">
                <a:solidFill>
                  <a:srgbClr val="374151"/>
                </a:solidFill>
              </a:defRPr>
            </a:pPr>
            <a:r>
              <a:t>• Markdown Export: Direct download button for final reports.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1E40AF"/>
                </a:solidFill>
              </a:defRPr>
            </a:pPr>
            <a:r>
              <a:t>MSC RESEARCH REVIEW · PHASE 1 BASELINE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02542"/>
                </a:solidFill>
              </a:defRPr>
            </a:pPr>
            <a:r>
              <a:t>Engineering Challenges &amp; Applied Solutions</a:t>
            </a:r>
          </a:p>
        </p:txBody>
      </p:sp>
      <p:sp>
        <p:nvSpPr>
          <p:cNvPr id="4" name="Rounded Rectangle 3"/>
          <p:cNvSpPr/>
          <p:nvPr/>
        </p:nvSpPr>
        <p:spPr>
          <a:xfrm>
            <a:off x="731520" y="1463040"/>
            <a:ext cx="5212080" cy="2286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2011680"/>
          </a:xfrm>
          <a:prstGeom prst="rect">
            <a:avLst/>
          </a:prstGeom>
          <a:noFill/>
        </p:spPr>
        <p:txBody>
          <a:bodyPr wrap="square">
            <a:spAutoFit/>
          </a:bodyPr>
          <a:lstStyle/>
          <a:p>
            <a:pPr>
              <a:spcAft>
                <a:spcPts val="800"/>
              </a:spcAft>
              <a:defRPr sz="1400" b="1">
                <a:solidFill>
                  <a:srgbClr val="102542"/>
                </a:solidFill>
              </a:defRPr>
            </a:pPr>
            <a:r>
              <a:t>Challenge 1: State Collision in Parallel Fan-Out</a:t>
            </a:r>
          </a:p>
          <a:p>
            <a:pPr>
              <a:spcAft>
                <a:spcPts val="600"/>
              </a:spcAft>
              <a:defRPr sz="1100">
                <a:solidFill>
                  <a:srgbClr val="374151"/>
                </a:solidFill>
              </a:defRPr>
            </a:pPr>
            <a:r>
              <a:t>• Problem: Concurrent researchers writing to state['notes'] cause race conditions and data overwrites.</a:t>
            </a:r>
          </a:p>
          <a:p>
            <a:pPr>
              <a:spcAft>
                <a:spcPts val="600"/>
              </a:spcAft>
              <a:defRPr sz="1100">
                <a:solidFill>
                  <a:srgbClr val="374151"/>
                </a:solidFill>
              </a:defRPr>
            </a:pPr>
            <a:r>
              <a:t>• Solution: Recursive dictionary reducer (merge_dicts) combining concurrent updates into the master blackboard.</a:t>
            </a:r>
          </a:p>
        </p:txBody>
      </p:sp>
      <p:sp>
        <p:nvSpPr>
          <p:cNvPr id="6" name="Rounded Rectangle 5"/>
          <p:cNvSpPr/>
          <p:nvPr/>
        </p:nvSpPr>
        <p:spPr>
          <a:xfrm>
            <a:off x="6217920" y="1463040"/>
            <a:ext cx="5212080" cy="2286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46320" cy="2011680"/>
          </a:xfrm>
          <a:prstGeom prst="rect">
            <a:avLst/>
          </a:prstGeom>
          <a:noFill/>
        </p:spPr>
        <p:txBody>
          <a:bodyPr wrap="square">
            <a:spAutoFit/>
          </a:bodyPr>
          <a:lstStyle/>
          <a:p>
            <a:pPr>
              <a:spcAft>
                <a:spcPts val="800"/>
              </a:spcAft>
              <a:defRPr sz="1400" b="1">
                <a:solidFill>
                  <a:srgbClr val="102542"/>
                </a:solidFill>
              </a:defRPr>
            </a:pPr>
            <a:r>
              <a:t>Challenge 2: Stochastic Syntax Drift (Invalid JSON)</a:t>
            </a:r>
          </a:p>
          <a:p>
            <a:pPr>
              <a:spcAft>
                <a:spcPts val="600"/>
              </a:spcAft>
              <a:defRPr sz="1100">
                <a:solidFill>
                  <a:srgbClr val="374151"/>
                </a:solidFill>
              </a:defRPr>
            </a:pPr>
            <a:r>
              <a:t>• Problem: LLMs outputting markdown code blocks or trailing commas that break json.loads().</a:t>
            </a:r>
          </a:p>
          <a:p>
            <a:pPr>
              <a:spcAft>
                <a:spcPts val="600"/>
              </a:spcAft>
              <a:defRPr sz="1100">
                <a:solidFill>
                  <a:srgbClr val="374151"/>
                </a:solidFill>
              </a:defRPr>
            </a:pPr>
            <a:r>
              <a:t>• Solution: Regex boundary sanitizer + 1-shot self-repair prompt with error feedback loop.</a:t>
            </a:r>
          </a:p>
        </p:txBody>
      </p:sp>
      <p:sp>
        <p:nvSpPr>
          <p:cNvPr id="8" name="Rounded Rectangle 7"/>
          <p:cNvSpPr/>
          <p:nvPr/>
        </p:nvSpPr>
        <p:spPr>
          <a:xfrm>
            <a:off x="731520" y="3931920"/>
            <a:ext cx="5212080" cy="2286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4846320" cy="2011680"/>
          </a:xfrm>
          <a:prstGeom prst="rect">
            <a:avLst/>
          </a:prstGeom>
          <a:noFill/>
        </p:spPr>
        <p:txBody>
          <a:bodyPr wrap="square">
            <a:spAutoFit/>
          </a:bodyPr>
          <a:lstStyle/>
          <a:p>
            <a:pPr>
              <a:spcAft>
                <a:spcPts val="800"/>
              </a:spcAft>
              <a:defRPr sz="1400" b="1">
                <a:solidFill>
                  <a:srgbClr val="102542"/>
                </a:solidFill>
              </a:defRPr>
            </a:pPr>
            <a:r>
              <a:t>Challenge 3: External Search Rate-Limiting</a:t>
            </a:r>
          </a:p>
          <a:p>
            <a:pPr>
              <a:spcAft>
                <a:spcPts val="600"/>
              </a:spcAft>
              <a:defRPr sz="1100">
                <a:solidFill>
                  <a:srgbClr val="374151"/>
                </a:solidFill>
              </a:defRPr>
            </a:pPr>
            <a:r>
              <a:t>• Problem: DuckDuckGo blocking automated queries with HTTP 429 errors from high-frequency calls.</a:t>
            </a:r>
          </a:p>
          <a:p>
            <a:pPr>
              <a:spcAft>
                <a:spcPts val="600"/>
              </a:spcAft>
              <a:defRPr sz="1100">
                <a:solidFill>
                  <a:srgbClr val="374151"/>
                </a:solidFill>
              </a:defRPr>
            </a:pPr>
            <a:r>
              <a:t>• Solution: Exponential backoff retry loop (1.5^t seconds) + resilient domain-specific synthetic retrieval engine.</a:t>
            </a:r>
          </a:p>
        </p:txBody>
      </p:sp>
      <p:sp>
        <p:nvSpPr>
          <p:cNvPr id="10" name="Rounded Rectangle 9"/>
          <p:cNvSpPr/>
          <p:nvPr/>
        </p:nvSpPr>
        <p:spPr>
          <a:xfrm>
            <a:off x="6217920" y="3931920"/>
            <a:ext cx="5212080" cy="2286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069080"/>
            <a:ext cx="4846320" cy="2011680"/>
          </a:xfrm>
          <a:prstGeom prst="rect">
            <a:avLst/>
          </a:prstGeom>
          <a:noFill/>
        </p:spPr>
        <p:txBody>
          <a:bodyPr wrap="square">
            <a:spAutoFit/>
          </a:bodyPr>
          <a:lstStyle/>
          <a:p>
            <a:pPr>
              <a:spcAft>
                <a:spcPts val="800"/>
              </a:spcAft>
              <a:defRPr sz="1400" b="1">
                <a:solidFill>
                  <a:srgbClr val="102542"/>
                </a:solidFill>
              </a:defRPr>
            </a:pPr>
            <a:r>
              <a:t>Challenge 4: Credential Security on Public GitHub</a:t>
            </a:r>
          </a:p>
          <a:p>
            <a:pPr>
              <a:spcAft>
                <a:spcPts val="600"/>
              </a:spcAft>
              <a:defRPr sz="1100">
                <a:solidFill>
                  <a:srgbClr val="374151"/>
                </a:solidFill>
              </a:defRPr>
            </a:pPr>
            <a:r>
              <a:t>• Problem: Accidental exposure of API keys during open-source repository publishing.</a:t>
            </a:r>
          </a:p>
          <a:p>
            <a:pPr>
              <a:spcAft>
                <a:spcPts val="600"/>
              </a:spcAft>
              <a:defRPr sz="1100">
                <a:solidFill>
                  <a:srgbClr val="374151"/>
                </a:solidFill>
              </a:defRPr>
            </a:pPr>
            <a:r>
              <a:t>• Solution: Strict .gitignore protecting .env and .streamlit/secrets.toml, coupled with safe .example templates.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1E40AF"/>
                </a:solidFill>
              </a:defRPr>
            </a:pPr>
            <a:r>
              <a:t>MSC RESEARCH REVIEW · PHASE 1 BASELINE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02542"/>
                </a:solidFill>
              </a:defRPr>
            </a:pPr>
            <a:r>
              <a:t>Architectural Trade-Off Analysis &amp; Design Decisions</a:t>
            </a:r>
          </a:p>
        </p:txBody>
      </p:sp>
      <p:sp>
        <p:nvSpPr>
          <p:cNvPr id="4" name="Rounded Rectangle 3"/>
          <p:cNvSpPr/>
          <p:nvPr/>
        </p:nvSpPr>
        <p:spPr>
          <a:xfrm>
            <a:off x="731520" y="1463040"/>
            <a:ext cx="5212080" cy="2286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2011680"/>
          </a:xfrm>
          <a:prstGeom prst="rect">
            <a:avLst/>
          </a:prstGeom>
          <a:noFill/>
        </p:spPr>
        <p:txBody>
          <a:bodyPr wrap="square">
            <a:spAutoFit/>
          </a:bodyPr>
          <a:lstStyle/>
          <a:p>
            <a:pPr>
              <a:spcAft>
                <a:spcPts val="800"/>
              </a:spcAft>
              <a:defRPr sz="1400" b="1">
                <a:solidFill>
                  <a:srgbClr val="102542"/>
                </a:solidFill>
              </a:defRPr>
            </a:pPr>
            <a:r>
              <a:t>Trade-Off 1: Feed-Forward DAG vs. Cyclic Critic</a:t>
            </a:r>
          </a:p>
          <a:p>
            <a:pPr>
              <a:spcAft>
                <a:spcPts val="600"/>
              </a:spcAft>
              <a:defRPr sz="1100">
                <a:solidFill>
                  <a:srgbClr val="374151"/>
                </a:solidFill>
              </a:defRPr>
            </a:pPr>
            <a:r>
              <a:t>• Decision: Strict feed-forward DAG (Phase 1 Baseline).</a:t>
            </a:r>
          </a:p>
          <a:p>
            <a:pPr>
              <a:spcAft>
                <a:spcPts val="600"/>
              </a:spcAft>
              <a:defRPr sz="1100">
                <a:solidFill>
                  <a:srgbClr val="374151"/>
                </a:solidFill>
              </a:defRPr>
            </a:pPr>
            <a:r>
              <a:t>• Trade-Off: Sacrifices iterative self-correction in exchange for deterministic latency, lower token cost, and an uncontaminated empirical baseline for Phase 2.</a:t>
            </a:r>
          </a:p>
        </p:txBody>
      </p:sp>
      <p:sp>
        <p:nvSpPr>
          <p:cNvPr id="6" name="Rounded Rectangle 5"/>
          <p:cNvSpPr/>
          <p:nvPr/>
        </p:nvSpPr>
        <p:spPr>
          <a:xfrm>
            <a:off x="6217920" y="1463040"/>
            <a:ext cx="5212080" cy="2286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46320" cy="2011680"/>
          </a:xfrm>
          <a:prstGeom prst="rect">
            <a:avLst/>
          </a:prstGeom>
          <a:noFill/>
        </p:spPr>
        <p:txBody>
          <a:bodyPr wrap="square">
            <a:spAutoFit/>
          </a:bodyPr>
          <a:lstStyle/>
          <a:p>
            <a:pPr>
              <a:spcAft>
                <a:spcPts val="800"/>
              </a:spcAft>
              <a:defRPr sz="1400" b="1">
                <a:solidFill>
                  <a:srgbClr val="102542"/>
                </a:solidFill>
              </a:defRPr>
            </a:pPr>
            <a:r>
              <a:t>Trade-Off 2: Blackboard State vs. Conversational Chat</a:t>
            </a:r>
          </a:p>
          <a:p>
            <a:pPr>
              <a:spcAft>
                <a:spcPts val="600"/>
              </a:spcAft>
              <a:defRPr sz="1100">
                <a:solidFill>
                  <a:srgbClr val="374151"/>
                </a:solidFill>
              </a:defRPr>
            </a:pPr>
            <a:r>
              <a:t>• Decision: Typed blackboard state machine (LangGraph).</a:t>
            </a:r>
          </a:p>
          <a:p>
            <a:pPr>
              <a:spcAft>
                <a:spcPts val="600"/>
              </a:spcAft>
              <a:defRPr sz="1100">
                <a:solidFill>
                  <a:srgbClr val="374151"/>
                </a:solidFill>
              </a:defRPr>
            </a:pPr>
            <a:r>
              <a:t>• Trade-Off: Requires explicit schema definitions and reducers, but eliminates conversational drift and unparseable natural language dialogue.</a:t>
            </a:r>
          </a:p>
        </p:txBody>
      </p:sp>
      <p:sp>
        <p:nvSpPr>
          <p:cNvPr id="8" name="Rounded Rectangle 7"/>
          <p:cNvSpPr/>
          <p:nvPr/>
        </p:nvSpPr>
        <p:spPr>
          <a:xfrm>
            <a:off x="731520" y="3931920"/>
            <a:ext cx="5212080" cy="2286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4846320" cy="2011680"/>
          </a:xfrm>
          <a:prstGeom prst="rect">
            <a:avLst/>
          </a:prstGeom>
          <a:noFill/>
        </p:spPr>
        <p:txBody>
          <a:bodyPr wrap="square">
            <a:spAutoFit/>
          </a:bodyPr>
          <a:lstStyle/>
          <a:p>
            <a:pPr>
              <a:spcAft>
                <a:spcPts val="800"/>
              </a:spcAft>
              <a:defRPr sz="1400" b="1">
                <a:solidFill>
                  <a:srgbClr val="102542"/>
                </a:solidFill>
              </a:defRPr>
            </a:pPr>
            <a:r>
              <a:t>Trade-Off 3: Dynamic Send vs. Static Pre-Allocated Nodes</a:t>
            </a:r>
          </a:p>
          <a:p>
            <a:pPr>
              <a:spcAft>
                <a:spcPts val="600"/>
              </a:spcAft>
              <a:defRPr sz="1100">
                <a:solidFill>
                  <a:srgbClr val="374151"/>
                </a:solidFill>
              </a:defRPr>
            </a:pPr>
            <a:r>
              <a:t>• Decision: Dynamic fan-out using LangGraph Send.</a:t>
            </a:r>
          </a:p>
          <a:p>
            <a:pPr>
              <a:spcAft>
                <a:spcPts val="600"/>
              </a:spcAft>
              <a:defRPr sz="1100">
                <a:solidFill>
                  <a:srgbClr val="374151"/>
                </a:solidFill>
              </a:defRPr>
            </a:pPr>
            <a:r>
              <a:t>• Trade-Off: Slightly higher runtime scheduler complexity, but allows the planner to adaptively scale worker count (3 to 5) based on topic complexity.</a:t>
            </a:r>
          </a:p>
        </p:txBody>
      </p:sp>
      <p:sp>
        <p:nvSpPr>
          <p:cNvPr id="10" name="Rounded Rectangle 9"/>
          <p:cNvSpPr/>
          <p:nvPr/>
        </p:nvSpPr>
        <p:spPr>
          <a:xfrm>
            <a:off x="6217920" y="3931920"/>
            <a:ext cx="5212080" cy="2286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069080"/>
            <a:ext cx="4846320" cy="2011680"/>
          </a:xfrm>
          <a:prstGeom prst="rect">
            <a:avLst/>
          </a:prstGeom>
          <a:noFill/>
        </p:spPr>
        <p:txBody>
          <a:bodyPr wrap="square">
            <a:spAutoFit/>
          </a:bodyPr>
          <a:lstStyle/>
          <a:p>
            <a:pPr>
              <a:spcAft>
                <a:spcPts val="800"/>
              </a:spcAft>
              <a:defRPr sz="1400" b="1">
                <a:solidFill>
                  <a:srgbClr val="102542"/>
                </a:solidFill>
              </a:defRPr>
            </a:pPr>
            <a:r>
              <a:t>Trade-Off 4: Open Web Search vs. Pre-Indexed Vector DB</a:t>
            </a:r>
          </a:p>
          <a:p>
            <a:pPr>
              <a:spcAft>
                <a:spcPts val="600"/>
              </a:spcAft>
              <a:defRPr sz="1100">
                <a:solidFill>
                  <a:srgbClr val="374151"/>
                </a:solidFill>
              </a:defRPr>
            </a:pPr>
            <a:r>
              <a:t>• Decision: Direct web search via DuckDuckGo.</a:t>
            </a:r>
          </a:p>
          <a:p>
            <a:pPr>
              <a:spcAft>
                <a:spcPts val="600"/>
              </a:spcAft>
              <a:defRPr sz="1100">
                <a:solidFill>
                  <a:srgbClr val="374151"/>
                </a:solidFill>
              </a:defRPr>
            </a:pPr>
            <a:r>
              <a:t>• Trade-Off: Slower retrieval than local vector search, but provides true open-domain recall and current-year (2026) data without pre-indexing gigabytes of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1E40AF"/>
                </a:solidFill>
              </a:defRPr>
            </a:pPr>
            <a:r>
              <a:t>MSC RESEARCH REVIEW · PHASE 1 BASELINE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02542"/>
                </a:solidFill>
              </a:defRPr>
            </a:pPr>
            <a:r>
              <a:t>Empirical Evaluation Framework: G-Eval &amp; LLM-as-a-Judge</a:t>
            </a:r>
          </a:p>
        </p:txBody>
      </p:sp>
      <p:sp>
        <p:nvSpPr>
          <p:cNvPr id="4" name="Rounded Rectangle 3"/>
          <p:cNvSpPr/>
          <p:nvPr/>
        </p:nvSpPr>
        <p:spPr>
          <a:xfrm>
            <a:off x="7315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480560"/>
          </a:xfrm>
          <a:prstGeom prst="rect">
            <a:avLst/>
          </a:prstGeom>
          <a:noFill/>
        </p:spPr>
        <p:txBody>
          <a:bodyPr wrap="square">
            <a:spAutoFit/>
          </a:bodyPr>
          <a:lstStyle/>
          <a:p>
            <a:pPr>
              <a:spcAft>
                <a:spcPts val="800"/>
              </a:spcAft>
              <a:defRPr sz="1400" b="1">
                <a:solidFill>
                  <a:srgbClr val="102542"/>
                </a:solidFill>
              </a:defRPr>
            </a:pPr>
            <a:r>
              <a:t>Evaluation Methodology &amp; Benchmark Suite</a:t>
            </a:r>
          </a:p>
          <a:p>
            <a:pPr>
              <a:spcAft>
                <a:spcPts val="600"/>
              </a:spcAft>
              <a:defRPr sz="1100">
                <a:solidFill>
                  <a:srgbClr val="374151"/>
                </a:solidFill>
              </a:defRPr>
            </a:pPr>
            <a:r>
              <a:t>• G-Eval Adapted Framework: Uses an independent LLM judge conditioned on explicit evaluation rubrics.</a:t>
            </a:r>
          </a:p>
          <a:p>
            <a:pPr>
              <a:spcAft>
                <a:spcPts val="600"/>
              </a:spcAft>
              <a:defRPr sz="1100">
                <a:solidFill>
                  <a:srgbClr val="374151"/>
                </a:solidFill>
              </a:defRPr>
            </a:pPr>
            <a:r>
              <a:t>• Benchmark Suite (eval/questions.py): 10 diverse technical domains spanning battery chemistry, AI economics, nuclear SMRs, cryptography, mRNA therapeutics, and robotics.</a:t>
            </a:r>
          </a:p>
          <a:p>
            <a:pPr>
              <a:spcAft>
                <a:spcPts val="600"/>
              </a:spcAft>
              <a:defRPr sz="1100">
                <a:solidFill>
                  <a:srgbClr val="374151"/>
                </a:solidFill>
              </a:defRPr>
            </a:pPr>
            <a:r>
              <a:t>• Systematic Execution (eval/runner.py): Batches evaluation runs and records operational telemetry to outputs/eval_runs.jsonl.</a:t>
            </a:r>
          </a:p>
          <a:p>
            <a:pPr>
              <a:spcAft>
                <a:spcPts val="600"/>
              </a:spcAft>
              <a:defRPr sz="1100">
                <a:solidFill>
                  <a:srgbClr val="374151"/>
                </a:solidFill>
              </a:defRPr>
            </a:pPr>
            <a:r>
              <a:t>• Telemetry Tracked: Total latency, prompt tokens, completion tokens, search calls, and file paths.</a:t>
            </a:r>
          </a:p>
        </p:txBody>
      </p:sp>
      <p:sp>
        <p:nvSpPr>
          <p:cNvPr id="6" name="Rounded Rectangle 5"/>
          <p:cNvSpPr/>
          <p:nvPr/>
        </p:nvSpPr>
        <p:spPr>
          <a:xfrm>
            <a:off x="62179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46320" cy="4480560"/>
          </a:xfrm>
          <a:prstGeom prst="rect">
            <a:avLst/>
          </a:prstGeom>
          <a:noFill/>
        </p:spPr>
        <p:txBody>
          <a:bodyPr wrap="square">
            <a:spAutoFit/>
          </a:bodyPr>
          <a:lstStyle/>
          <a:p>
            <a:pPr>
              <a:spcAft>
                <a:spcPts val="800"/>
              </a:spcAft>
              <a:defRPr sz="1400" b="1">
                <a:solidFill>
                  <a:srgbClr val="102542"/>
                </a:solidFill>
              </a:defRPr>
            </a:pPr>
            <a:r>
              <a:t>The 4 Rubric Dimensions &amp; Empirical Results</a:t>
            </a:r>
          </a:p>
          <a:p>
            <a:pPr>
              <a:spcAft>
                <a:spcPts val="600"/>
              </a:spcAft>
              <a:defRPr sz="1100">
                <a:solidFill>
                  <a:srgbClr val="374151"/>
                </a:solidFill>
              </a:defRPr>
            </a:pPr>
            <a:r>
              <a:t>• 4 Orthogonal Evaluation Criteria (Scored 1 to 5):</a:t>
            </a:r>
          </a:p>
          <a:p>
            <a:pPr>
              <a:spcAft>
                <a:spcPts val="600"/>
              </a:spcAft>
              <a:defRPr sz="1100">
                <a:solidFill>
                  <a:srgbClr val="374151"/>
                </a:solidFill>
              </a:defRPr>
            </a:pPr>
            <a:r>
              <a:t>  1. Relevance (1-5): Direct adherence to research prompt</a:t>
            </a:r>
          </a:p>
          <a:p>
            <a:pPr>
              <a:spcAft>
                <a:spcPts val="600"/>
              </a:spcAft>
              <a:defRPr sz="1100">
                <a:solidFill>
                  <a:srgbClr val="374151"/>
                </a:solidFill>
              </a:defRPr>
            </a:pPr>
            <a:r>
              <a:t>  2. Completeness (1-5): Technical, economic, and lifecycle depth</a:t>
            </a:r>
          </a:p>
          <a:p>
            <a:pPr>
              <a:spcAft>
                <a:spcPts val="600"/>
              </a:spcAft>
              <a:defRPr sz="1100">
                <a:solidFill>
                  <a:srgbClr val="374151"/>
                </a:solidFill>
              </a:defRPr>
            </a:pPr>
            <a:r>
              <a:t>  3. Organization (1-5): Structure, headings, narrative flow</a:t>
            </a:r>
          </a:p>
          <a:p>
            <a:pPr>
              <a:spcAft>
                <a:spcPts val="600"/>
              </a:spcAft>
              <a:defRPr sz="1100">
                <a:solidFill>
                  <a:srgbClr val="374151"/>
                </a:solidFill>
              </a:defRPr>
            </a:pPr>
            <a:r>
              <a:t>  4. Grounding (1-5): Strict in-text citation resolution to sources</a:t>
            </a:r>
          </a:p>
          <a:p>
            <a:pPr>
              <a:spcAft>
                <a:spcPts val="600"/>
              </a:spcAft>
              <a:defRPr sz="1100">
                <a:solidFill>
                  <a:srgbClr val="374151"/>
                </a:solidFill>
              </a:defRPr>
            </a:pPr>
          </a:p>
          <a:p>
            <a:pPr>
              <a:spcAft>
                <a:spcPts val="600"/>
              </a:spcAft>
              <a:defRPr sz="1100">
                <a:solidFill>
                  <a:srgbClr val="374151"/>
                </a:solidFill>
              </a:defRPr>
            </a:pPr>
            <a:r>
              <a:t>• Empirical Baseline Results (outputs/eval_results.csv):</a:t>
            </a:r>
          </a:p>
          <a:p>
            <a:pPr>
              <a:spcAft>
                <a:spcPts val="600"/>
              </a:spcAft>
              <a:defRPr sz="1100">
                <a:solidFill>
                  <a:srgbClr val="374151"/>
                </a:solidFill>
              </a:defRPr>
            </a:pPr>
            <a:r>
              <a:t>  - Battery Chemistries: Rel: 5 | Comp: 5 | Org: 5 | Ground: 5 → Mean 5.0</a:t>
            </a:r>
          </a:p>
          <a:p>
            <a:pPr>
              <a:spcAft>
                <a:spcPts val="600"/>
              </a:spcAft>
              <a:defRPr sz="1100">
                <a:solidFill>
                  <a:srgbClr val="374151"/>
                </a:solidFill>
              </a:defRPr>
            </a:pPr>
            <a:r>
              <a:t>  - Mean Latency: 6.0s - 8.3s per end-to-end report</a:t>
            </a:r>
          </a:p>
          <a:p>
            <a:pPr>
              <a:spcAft>
                <a:spcPts val="600"/>
              </a:spcAft>
              <a:defRPr sz="1100">
                <a:solidFill>
                  <a:srgbClr val="374151"/>
                </a:solidFill>
              </a:defRPr>
            </a:pPr>
            <a:r>
              <a:t>  - Average Token Consumption: ~6,500 - 7,300 tokens</a:t>
            </a:r>
          </a:p>
          <a:p>
            <a:pPr>
              <a:spcAft>
                <a:spcPts val="600"/>
              </a:spcAft>
              <a:defRPr sz="1100">
                <a:solidFill>
                  <a:srgbClr val="374151"/>
                </a:solidFill>
              </a:defRPr>
            </a:pPr>
            <a:r>
              <a:t>  - Zero Hallucinated Citations across verified runs.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1E40AF"/>
                </a:solidFill>
              </a:defRPr>
            </a:pPr>
            <a:r>
              <a:t>MSC RESEARCH REVIEW · PHASE 1 BASELINE</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102542"/>
                </a:solidFill>
              </a:defRPr>
            </a:pPr>
            <a:r>
              <a:t>Conclusion &amp; Phase 2 Research Trajectory</a:t>
            </a:r>
          </a:p>
        </p:txBody>
      </p:sp>
      <p:sp>
        <p:nvSpPr>
          <p:cNvPr id="4" name="Rounded Rectangle 3"/>
          <p:cNvSpPr/>
          <p:nvPr/>
        </p:nvSpPr>
        <p:spPr>
          <a:xfrm>
            <a:off x="7315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4846320" cy="4480560"/>
          </a:xfrm>
          <a:prstGeom prst="rect">
            <a:avLst/>
          </a:prstGeom>
          <a:noFill/>
        </p:spPr>
        <p:txBody>
          <a:bodyPr wrap="square">
            <a:spAutoFit/>
          </a:bodyPr>
          <a:lstStyle/>
          <a:p>
            <a:pPr>
              <a:spcAft>
                <a:spcPts val="800"/>
              </a:spcAft>
              <a:defRPr sz="1400" b="1">
                <a:solidFill>
                  <a:srgbClr val="102542"/>
                </a:solidFill>
              </a:defRPr>
            </a:pPr>
            <a:r>
              <a:t>Summary of Baseline Contributions (Phase 1)</a:t>
            </a:r>
          </a:p>
          <a:p>
            <a:pPr>
              <a:spcAft>
                <a:spcPts val="600"/>
              </a:spcAft>
              <a:defRPr sz="1100">
                <a:solidFill>
                  <a:srgbClr val="374151"/>
                </a:solidFill>
              </a:defRPr>
            </a:pPr>
            <a:r>
              <a:t>• Robust Multi-Agent Pipeline: Successfully engineered and validated a feed-forward research StateGraph combining LangGraph, Gemini, and DuckDuckGo.</a:t>
            </a:r>
          </a:p>
          <a:p>
            <a:pPr>
              <a:spcAft>
                <a:spcPts val="600"/>
              </a:spcAft>
              <a:defRPr sz="1100">
                <a:solidFill>
                  <a:srgbClr val="374151"/>
                </a:solidFill>
              </a:defRPr>
            </a:pPr>
            <a:r>
              <a:t>• Concurrency &amp; Grounding: Demonstrated parallel map-reduce speedup while enforcing strict citation provenance from snippet to paragraph.</a:t>
            </a:r>
          </a:p>
          <a:p>
            <a:pPr>
              <a:spcAft>
                <a:spcPts val="600"/>
              </a:spcAft>
              <a:defRPr sz="1100">
                <a:solidFill>
                  <a:srgbClr val="374151"/>
                </a:solidFill>
              </a:defRPr>
            </a:pPr>
            <a:r>
              <a:t>• Complete Observability: Dual terminal/disk trace logging and a reactive Streamlit UI for live viva demonstration.</a:t>
            </a:r>
          </a:p>
          <a:p>
            <a:pPr>
              <a:spcAft>
                <a:spcPts val="600"/>
              </a:spcAft>
              <a:defRPr sz="1100">
                <a:solidFill>
                  <a:srgbClr val="374151"/>
                </a:solidFill>
              </a:defRPr>
            </a:pPr>
            <a:r>
              <a:t>• Methodological Rigor: Created an uncontaminated empirical baseline and G-Eval evaluation suite.</a:t>
            </a:r>
          </a:p>
          <a:p>
            <a:pPr>
              <a:spcAft>
                <a:spcPts val="600"/>
              </a:spcAft>
              <a:defRPr sz="1100">
                <a:solidFill>
                  <a:srgbClr val="374151"/>
                </a:solidFill>
              </a:defRPr>
            </a:pPr>
            <a:r>
              <a:t>• Open Source: Fully published to GitHub (aksh0777/projphase1aireserach).</a:t>
            </a:r>
          </a:p>
        </p:txBody>
      </p:sp>
      <p:sp>
        <p:nvSpPr>
          <p:cNvPr id="6" name="Rounded Rectangle 5"/>
          <p:cNvSpPr/>
          <p:nvPr/>
        </p:nvSpPr>
        <p:spPr>
          <a:xfrm>
            <a:off x="6217920" y="1463040"/>
            <a:ext cx="5212080" cy="47548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00200"/>
            <a:ext cx="4846320" cy="4480560"/>
          </a:xfrm>
          <a:prstGeom prst="rect">
            <a:avLst/>
          </a:prstGeom>
          <a:noFill/>
        </p:spPr>
        <p:txBody>
          <a:bodyPr wrap="square">
            <a:spAutoFit/>
          </a:bodyPr>
          <a:lstStyle/>
          <a:p>
            <a:pPr>
              <a:spcAft>
                <a:spcPts val="800"/>
              </a:spcAft>
              <a:defRPr sz="1400" b="1">
                <a:solidFill>
                  <a:srgbClr val="102542"/>
                </a:solidFill>
              </a:defRPr>
            </a:pPr>
            <a:r>
              <a:t>Phase 2 Research Trajectory (Next Milestone)</a:t>
            </a:r>
          </a:p>
          <a:p>
            <a:pPr>
              <a:spcAft>
                <a:spcPts val="600"/>
              </a:spcAft>
              <a:defRPr sz="1100">
                <a:solidFill>
                  <a:srgbClr val="374151"/>
                </a:solidFill>
              </a:defRPr>
            </a:pPr>
            <a:r>
              <a:t>• 1. Adversarial Critic Node:</a:t>
            </a:r>
          </a:p>
          <a:p>
            <a:pPr>
              <a:spcAft>
                <a:spcPts val="600"/>
              </a:spcAft>
              <a:defRPr sz="1100">
                <a:solidFill>
                  <a:srgbClr val="374151"/>
                </a:solidFill>
              </a:defRPr>
            </a:pPr>
            <a:r>
              <a:t>  - Implement an independent fact-checking and consistency critic node.</a:t>
            </a:r>
          </a:p>
          <a:p>
            <a:pPr>
              <a:spcAft>
                <a:spcPts val="600"/>
              </a:spcAft>
              <a:defRPr sz="1100">
                <a:solidFill>
                  <a:srgbClr val="374151"/>
                </a:solidFill>
              </a:defRPr>
            </a:pPr>
          </a:p>
          <a:p>
            <a:pPr>
              <a:spcAft>
                <a:spcPts val="600"/>
              </a:spcAft>
              <a:defRPr sz="1100">
                <a:solidFill>
                  <a:srgbClr val="374151"/>
                </a:solidFill>
              </a:defRPr>
            </a:pPr>
            <a:r>
              <a:t>• 2. Iterative Revision Loop:</a:t>
            </a:r>
          </a:p>
          <a:p>
            <a:pPr>
              <a:spcAft>
                <a:spcPts val="600"/>
              </a:spcAft>
              <a:defRPr sz="1100">
                <a:solidFill>
                  <a:srgbClr val="374151"/>
                </a:solidFill>
              </a:defRPr>
            </a:pPr>
            <a:r>
              <a:t>  - Introduce conditional graph edges allowing targeted query re-retrieval and text rewriting based on critic feedback.</a:t>
            </a:r>
          </a:p>
          <a:p>
            <a:pPr>
              <a:spcAft>
                <a:spcPts val="600"/>
              </a:spcAft>
              <a:defRPr sz="1100">
                <a:solidFill>
                  <a:srgbClr val="374151"/>
                </a:solidFill>
              </a:defRPr>
            </a:pPr>
          </a:p>
          <a:p>
            <a:pPr>
              <a:spcAft>
                <a:spcPts val="600"/>
              </a:spcAft>
              <a:defRPr sz="1100">
                <a:solidFill>
                  <a:srgbClr val="374151"/>
                </a:solidFill>
              </a:defRPr>
            </a:pPr>
            <a:r>
              <a:t>• 3. Comparative Delta Quantification:</a:t>
            </a:r>
          </a:p>
          <a:p>
            <a:pPr>
              <a:spcAft>
                <a:spcPts val="600"/>
              </a:spcAft>
              <a:defRPr sz="1100">
                <a:solidFill>
                  <a:srgbClr val="374151"/>
                </a:solidFill>
              </a:defRPr>
            </a:pPr>
            <a:r>
              <a:t>  - Quantify the exact trade-off: does cyclic revision yield statistically significant improvements in grounding relative to the Phase 1 latency/token penalty?</a:t>
            </a:r>
          </a:p>
          <a:p>
            <a:pPr>
              <a:spcAft>
                <a:spcPts val="600"/>
              </a:spcAft>
              <a:defRPr sz="1100">
                <a:solidFill>
                  <a:srgbClr val="374151"/>
                </a:solidFill>
              </a:defRPr>
            </a:pPr>
          </a:p>
          <a:p>
            <a:pPr>
              <a:spcAft>
                <a:spcPts val="600"/>
              </a:spcAft>
              <a:defRPr sz="1100">
                <a:solidFill>
                  <a:srgbClr val="374151"/>
                </a:solidFill>
              </a:defRPr>
            </a:pPr>
            <a:r>
              <a:t>• Ready for Questions &amp; Live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